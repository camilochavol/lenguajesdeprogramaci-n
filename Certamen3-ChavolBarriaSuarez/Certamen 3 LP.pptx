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27"/>
  </p:notesMasterIdLst>
  <p:sldIdLst>
    <p:sldId id="256" r:id="rId5"/>
    <p:sldId id="257" r:id="rId6"/>
    <p:sldId id="258" r:id="rId7"/>
    <p:sldId id="259" r:id="rId8"/>
    <p:sldId id="280" r:id="rId9"/>
    <p:sldId id="261" r:id="rId10"/>
    <p:sldId id="308" r:id="rId11"/>
    <p:sldId id="294" r:id="rId12"/>
    <p:sldId id="292" r:id="rId13"/>
    <p:sldId id="295" r:id="rId14"/>
    <p:sldId id="310" r:id="rId15"/>
    <p:sldId id="309" r:id="rId16"/>
    <p:sldId id="311" r:id="rId17"/>
    <p:sldId id="312" r:id="rId18"/>
    <p:sldId id="313" r:id="rId19"/>
    <p:sldId id="314" r:id="rId20"/>
    <p:sldId id="282" r:id="rId21"/>
    <p:sldId id="283" r:id="rId22"/>
    <p:sldId id="304" r:id="rId23"/>
    <p:sldId id="293" r:id="rId24"/>
    <p:sldId id="306" r:id="rId25"/>
    <p:sldId id="307" r:id="rId26"/>
  </p:sldIdLst>
  <p:sldSz cx="9144000" cy="5143500" type="screen16x9"/>
  <p:notesSz cx="6858000" cy="9144000"/>
  <p:embeddedFontLst>
    <p:embeddedFont>
      <p:font typeface="Montserrat Black" panose="00000A00000000000000" pitchFamily="2" charset="0"/>
      <p:bold r:id="rId28"/>
      <p:boldItalic r:id="rId29"/>
    </p:embeddedFont>
    <p:embeddedFont>
      <p:font typeface="Montserrat ExtraBold" panose="00000900000000000000" pitchFamily="2" charset="0"/>
      <p:bold r:id="rId30"/>
      <p:boldItalic r:id="rId31"/>
    </p:embeddedFont>
    <p:embeddedFont>
      <p:font typeface="Roboto" panose="020000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CB8AD8-267E-AE4E-73E3-B6A8354E0E60}" name="aaron patricio cardenas toro" initials="at" userId="S::aaron.cardenas@estudiantes.uv.cl::8d29ca80-0c97-4240-bafa-a6d11d0f980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FC744B-AF6A-41B8-A1BF-AA96D120BECF}" v="41" dt="2025-12-02T04:14:17.9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3" d="100"/>
          <a:sy n="103" d="100"/>
        </p:scale>
        <p:origin x="902"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font" Target="fonts/font7.fntdata"/><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2.fntdata"/><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5.fntdata"/><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1.fntdata"/><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6.fntdata"/><Relationship Id="rId3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2d110816dbf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2d110816dbf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2d108006645_0_5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2d108006645_0_5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38eebcd262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38eebcd262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FCF64328-594B-6F5E-3D46-6A255F929C3B}"/>
            </a:ext>
          </a:extLst>
        </p:cNvPr>
        <p:cNvGrpSpPr/>
        <p:nvPr/>
      </p:nvGrpSpPr>
      <p:grpSpPr>
        <a:xfrm>
          <a:off x="0" y="0"/>
          <a:ext cx="0" cy="0"/>
          <a:chOff x="0" y="0"/>
          <a:chExt cx="0" cy="0"/>
        </a:xfrm>
      </p:grpSpPr>
      <p:sp>
        <p:nvSpPr>
          <p:cNvPr id="106" name="Google Shape;106;g2d108006645_0_752:notes">
            <a:extLst>
              <a:ext uri="{FF2B5EF4-FFF2-40B4-BE49-F238E27FC236}">
                <a16:creationId xmlns:a16="http://schemas.microsoft.com/office/drawing/2014/main" id="{932A63C9-D2BF-36F4-9AE7-DB42D90D57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d108006645_0_752:notes">
            <a:extLst>
              <a:ext uri="{FF2B5EF4-FFF2-40B4-BE49-F238E27FC236}">
                <a16:creationId xmlns:a16="http://schemas.microsoft.com/office/drawing/2014/main" id="{7DB18BB8-2FB2-9C51-648C-AFCF6F426D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3948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d108006645_0_8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d108006645_0_8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678A0D-BDA1-02B4-EB19-5B718F019D1F}"/>
            </a:ext>
          </a:extLst>
        </p:cNvPr>
        <p:cNvGrpSpPr/>
        <p:nvPr/>
      </p:nvGrpSpPr>
      <p:grpSpPr>
        <a:xfrm>
          <a:off x="0" y="0"/>
          <a:ext cx="0" cy="0"/>
          <a:chOff x="0" y="0"/>
          <a:chExt cx="0" cy="0"/>
        </a:xfrm>
      </p:grpSpPr>
      <p:sp>
        <p:nvSpPr>
          <p:cNvPr id="129" name="Google Shape;129;g2d108006645_0_839:notes">
            <a:extLst>
              <a:ext uri="{FF2B5EF4-FFF2-40B4-BE49-F238E27FC236}">
                <a16:creationId xmlns:a16="http://schemas.microsoft.com/office/drawing/2014/main" id="{596C8421-A222-64E1-0E20-9ED9387962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d108006645_0_839:notes">
            <a:extLst>
              <a:ext uri="{FF2B5EF4-FFF2-40B4-BE49-F238E27FC236}">
                <a16:creationId xmlns:a16="http://schemas.microsoft.com/office/drawing/2014/main" id="{CCDE7E6C-E7F2-2923-7373-4EAE8DD23B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05411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A83E16E0-AD21-D6EA-F1BC-4260D118D864}"/>
            </a:ext>
          </a:extLst>
        </p:cNvPr>
        <p:cNvGrpSpPr/>
        <p:nvPr/>
      </p:nvGrpSpPr>
      <p:grpSpPr>
        <a:xfrm>
          <a:off x="0" y="0"/>
          <a:ext cx="0" cy="0"/>
          <a:chOff x="0" y="0"/>
          <a:chExt cx="0" cy="0"/>
        </a:xfrm>
      </p:grpSpPr>
      <p:sp>
        <p:nvSpPr>
          <p:cNvPr id="129" name="Google Shape;129;g2d108006645_0_839:notes">
            <a:extLst>
              <a:ext uri="{FF2B5EF4-FFF2-40B4-BE49-F238E27FC236}">
                <a16:creationId xmlns:a16="http://schemas.microsoft.com/office/drawing/2014/main" id="{ACEB7BA2-655C-9525-4CAB-18968E24EA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d108006645_0_839:notes">
            <a:extLst>
              <a:ext uri="{FF2B5EF4-FFF2-40B4-BE49-F238E27FC236}">
                <a16:creationId xmlns:a16="http://schemas.microsoft.com/office/drawing/2014/main" id="{67AEB56B-8EF4-F18D-9FD9-9516D30584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37308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60A0EBF1-2E7F-1A6E-BE1E-B789CF5B9737}"/>
            </a:ext>
          </a:extLst>
        </p:cNvPr>
        <p:cNvGrpSpPr/>
        <p:nvPr/>
      </p:nvGrpSpPr>
      <p:grpSpPr>
        <a:xfrm>
          <a:off x="0" y="0"/>
          <a:ext cx="0" cy="0"/>
          <a:chOff x="0" y="0"/>
          <a:chExt cx="0" cy="0"/>
        </a:xfrm>
      </p:grpSpPr>
      <p:sp>
        <p:nvSpPr>
          <p:cNvPr id="114" name="Google Shape;114;g2d108006645_0_822:notes">
            <a:extLst>
              <a:ext uri="{FF2B5EF4-FFF2-40B4-BE49-F238E27FC236}">
                <a16:creationId xmlns:a16="http://schemas.microsoft.com/office/drawing/2014/main" id="{144B05E0-C42E-4E5D-3BAD-D4AA6984E7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d108006645_0_822:notes">
            <a:extLst>
              <a:ext uri="{FF2B5EF4-FFF2-40B4-BE49-F238E27FC236}">
                <a16:creationId xmlns:a16="http://schemas.microsoft.com/office/drawing/2014/main" id="{899C49F5-98B3-461D-B730-2480C88E26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5785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CC53BABB-BC4D-1EC7-E240-E5575C6DE0EE}"/>
            </a:ext>
          </a:extLst>
        </p:cNvPr>
        <p:cNvGrpSpPr/>
        <p:nvPr/>
      </p:nvGrpSpPr>
      <p:grpSpPr>
        <a:xfrm>
          <a:off x="0" y="0"/>
          <a:ext cx="0" cy="0"/>
          <a:chOff x="0" y="0"/>
          <a:chExt cx="0" cy="0"/>
        </a:xfrm>
      </p:grpSpPr>
      <p:sp>
        <p:nvSpPr>
          <p:cNvPr id="129" name="Google Shape;129;g2d108006645_0_839:notes">
            <a:extLst>
              <a:ext uri="{FF2B5EF4-FFF2-40B4-BE49-F238E27FC236}">
                <a16:creationId xmlns:a16="http://schemas.microsoft.com/office/drawing/2014/main" id="{60F25E70-0BDF-4CF0-D484-163582E3ED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d108006645_0_839:notes">
            <a:extLst>
              <a:ext uri="{FF2B5EF4-FFF2-40B4-BE49-F238E27FC236}">
                <a16:creationId xmlns:a16="http://schemas.microsoft.com/office/drawing/2014/main" id="{D9E203CD-90A5-C9DA-8916-07FDE294F9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31754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DF906BC0-C442-9578-0C13-6277B4D05100}"/>
            </a:ext>
          </a:extLst>
        </p:cNvPr>
        <p:cNvGrpSpPr/>
        <p:nvPr/>
      </p:nvGrpSpPr>
      <p:grpSpPr>
        <a:xfrm>
          <a:off x="0" y="0"/>
          <a:ext cx="0" cy="0"/>
          <a:chOff x="0" y="0"/>
          <a:chExt cx="0" cy="0"/>
        </a:xfrm>
      </p:grpSpPr>
      <p:sp>
        <p:nvSpPr>
          <p:cNvPr id="114" name="Google Shape;114;g2d108006645_0_822:notes">
            <a:extLst>
              <a:ext uri="{FF2B5EF4-FFF2-40B4-BE49-F238E27FC236}">
                <a16:creationId xmlns:a16="http://schemas.microsoft.com/office/drawing/2014/main" id="{9F42D91A-DE3E-C98D-967D-008ACCD070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d108006645_0_822:notes">
            <a:extLst>
              <a:ext uri="{FF2B5EF4-FFF2-40B4-BE49-F238E27FC236}">
                <a16:creationId xmlns:a16="http://schemas.microsoft.com/office/drawing/2014/main" id="{19267A7C-DD65-3FA4-B367-E6D7DB8B9A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95796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E6A542CF-FF88-7815-F41E-419D96669AB0}"/>
            </a:ext>
          </a:extLst>
        </p:cNvPr>
        <p:cNvGrpSpPr/>
        <p:nvPr/>
      </p:nvGrpSpPr>
      <p:grpSpPr>
        <a:xfrm>
          <a:off x="0" y="0"/>
          <a:ext cx="0" cy="0"/>
          <a:chOff x="0" y="0"/>
          <a:chExt cx="0" cy="0"/>
        </a:xfrm>
      </p:grpSpPr>
      <p:sp>
        <p:nvSpPr>
          <p:cNvPr id="129" name="Google Shape;129;g2d108006645_0_839:notes">
            <a:extLst>
              <a:ext uri="{FF2B5EF4-FFF2-40B4-BE49-F238E27FC236}">
                <a16:creationId xmlns:a16="http://schemas.microsoft.com/office/drawing/2014/main" id="{F0A51885-B944-37D2-1D30-E4DF1D5329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d108006645_0_839:notes">
            <a:extLst>
              <a:ext uri="{FF2B5EF4-FFF2-40B4-BE49-F238E27FC236}">
                <a16:creationId xmlns:a16="http://schemas.microsoft.com/office/drawing/2014/main" id="{3483CA23-3EF1-5DBF-39DB-D5E00EB644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50904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AC81D817-4ABB-DA65-52D7-766930E051B1}"/>
            </a:ext>
          </a:extLst>
        </p:cNvPr>
        <p:cNvGrpSpPr/>
        <p:nvPr/>
      </p:nvGrpSpPr>
      <p:grpSpPr>
        <a:xfrm>
          <a:off x="0" y="0"/>
          <a:ext cx="0" cy="0"/>
          <a:chOff x="0" y="0"/>
          <a:chExt cx="0" cy="0"/>
        </a:xfrm>
      </p:grpSpPr>
      <p:sp>
        <p:nvSpPr>
          <p:cNvPr id="114" name="Google Shape;114;g2d108006645_0_822:notes">
            <a:extLst>
              <a:ext uri="{FF2B5EF4-FFF2-40B4-BE49-F238E27FC236}">
                <a16:creationId xmlns:a16="http://schemas.microsoft.com/office/drawing/2014/main" id="{C1A8FF61-4F73-F4D3-529A-2F54B6E4E7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d108006645_0_822:notes">
            <a:extLst>
              <a:ext uri="{FF2B5EF4-FFF2-40B4-BE49-F238E27FC236}">
                <a16:creationId xmlns:a16="http://schemas.microsoft.com/office/drawing/2014/main" id="{078BACF6-2908-920A-5E3C-F6D065E789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1698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BECE3967-2705-1548-EB1B-62DCDDE021EA}"/>
            </a:ext>
          </a:extLst>
        </p:cNvPr>
        <p:cNvGrpSpPr/>
        <p:nvPr/>
      </p:nvGrpSpPr>
      <p:grpSpPr>
        <a:xfrm>
          <a:off x="0" y="0"/>
          <a:ext cx="0" cy="0"/>
          <a:chOff x="0" y="0"/>
          <a:chExt cx="0" cy="0"/>
        </a:xfrm>
      </p:grpSpPr>
      <p:sp>
        <p:nvSpPr>
          <p:cNvPr id="129" name="Google Shape;129;g2d108006645_0_839:notes">
            <a:extLst>
              <a:ext uri="{FF2B5EF4-FFF2-40B4-BE49-F238E27FC236}">
                <a16:creationId xmlns:a16="http://schemas.microsoft.com/office/drawing/2014/main" id="{BC138BC2-3EE5-1C58-59A5-97144E3133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d108006645_0_839:notes">
            <a:extLst>
              <a:ext uri="{FF2B5EF4-FFF2-40B4-BE49-F238E27FC236}">
                <a16:creationId xmlns:a16="http://schemas.microsoft.com/office/drawing/2014/main" id="{9135280B-689E-5053-77FE-7CEF25EB0A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37511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F65DF00-252C-978F-ABEB-8C1739B8A3AA}"/>
            </a:ext>
          </a:extLst>
        </p:cNvPr>
        <p:cNvGrpSpPr/>
        <p:nvPr/>
      </p:nvGrpSpPr>
      <p:grpSpPr>
        <a:xfrm>
          <a:off x="0" y="0"/>
          <a:ext cx="0" cy="0"/>
          <a:chOff x="0" y="0"/>
          <a:chExt cx="0" cy="0"/>
        </a:xfrm>
      </p:grpSpPr>
      <p:sp>
        <p:nvSpPr>
          <p:cNvPr id="129" name="Google Shape;129;g2d108006645_0_839:notes">
            <a:extLst>
              <a:ext uri="{FF2B5EF4-FFF2-40B4-BE49-F238E27FC236}">
                <a16:creationId xmlns:a16="http://schemas.microsoft.com/office/drawing/2014/main" id="{3B9C51B3-6EEB-B8E8-CBD3-5C3AE0DA8C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d108006645_0_839:notes">
            <a:extLst>
              <a:ext uri="{FF2B5EF4-FFF2-40B4-BE49-F238E27FC236}">
                <a16:creationId xmlns:a16="http://schemas.microsoft.com/office/drawing/2014/main" id="{18D0156F-1948-FC27-BFA3-C21901A10C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347963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2D2DD8D7-B9E3-72A4-87EA-F23DF2A4CC0A}"/>
            </a:ext>
          </a:extLst>
        </p:cNvPr>
        <p:cNvGrpSpPr/>
        <p:nvPr/>
      </p:nvGrpSpPr>
      <p:grpSpPr>
        <a:xfrm>
          <a:off x="0" y="0"/>
          <a:ext cx="0" cy="0"/>
          <a:chOff x="0" y="0"/>
          <a:chExt cx="0" cy="0"/>
        </a:xfrm>
      </p:grpSpPr>
      <p:sp>
        <p:nvSpPr>
          <p:cNvPr id="129" name="Google Shape;129;g2d108006645_0_839:notes">
            <a:extLst>
              <a:ext uri="{FF2B5EF4-FFF2-40B4-BE49-F238E27FC236}">
                <a16:creationId xmlns:a16="http://schemas.microsoft.com/office/drawing/2014/main" id="{AE3D8BF0-7962-6BB6-4E3C-A9CB4622E9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d108006645_0_839:notes">
            <a:extLst>
              <a:ext uri="{FF2B5EF4-FFF2-40B4-BE49-F238E27FC236}">
                <a16:creationId xmlns:a16="http://schemas.microsoft.com/office/drawing/2014/main" id="{2D3D3FDC-5001-E64D-E1F7-CABA1B3FEB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5948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1F6ADC38-90BA-AB06-8F6C-E519E4242731}"/>
            </a:ext>
          </a:extLst>
        </p:cNvPr>
        <p:cNvGrpSpPr/>
        <p:nvPr/>
      </p:nvGrpSpPr>
      <p:grpSpPr>
        <a:xfrm>
          <a:off x="0" y="0"/>
          <a:ext cx="0" cy="0"/>
          <a:chOff x="0" y="0"/>
          <a:chExt cx="0" cy="0"/>
        </a:xfrm>
      </p:grpSpPr>
      <p:sp>
        <p:nvSpPr>
          <p:cNvPr id="137" name="Google Shape;137;g338eebcd262_0_34:notes">
            <a:extLst>
              <a:ext uri="{FF2B5EF4-FFF2-40B4-BE49-F238E27FC236}">
                <a16:creationId xmlns:a16="http://schemas.microsoft.com/office/drawing/2014/main" id="{5217B103-2725-9EA4-70D3-67820F53C0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38eebcd262_0_34:notes">
            <a:extLst>
              <a:ext uri="{FF2B5EF4-FFF2-40B4-BE49-F238E27FC236}">
                <a16:creationId xmlns:a16="http://schemas.microsoft.com/office/drawing/2014/main" id="{FA0919A8-0AB4-6208-675F-999FC245C4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05137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DB80B4D7-72D3-1B2C-0256-7F69B24B0C46}"/>
            </a:ext>
          </a:extLst>
        </p:cNvPr>
        <p:cNvGrpSpPr/>
        <p:nvPr/>
      </p:nvGrpSpPr>
      <p:grpSpPr>
        <a:xfrm>
          <a:off x="0" y="0"/>
          <a:ext cx="0" cy="0"/>
          <a:chOff x="0" y="0"/>
          <a:chExt cx="0" cy="0"/>
        </a:xfrm>
      </p:grpSpPr>
      <p:sp>
        <p:nvSpPr>
          <p:cNvPr id="144" name="Google Shape;144;g2d108006645_0_767:notes">
            <a:extLst>
              <a:ext uri="{FF2B5EF4-FFF2-40B4-BE49-F238E27FC236}">
                <a16:creationId xmlns:a16="http://schemas.microsoft.com/office/drawing/2014/main" id="{F4C331D9-7F53-E009-BD36-D608436932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d108006645_0_767:notes">
            <a:extLst>
              <a:ext uri="{FF2B5EF4-FFF2-40B4-BE49-F238E27FC236}">
                <a16:creationId xmlns:a16="http://schemas.microsoft.com/office/drawing/2014/main" id="{351765F5-3F8F-6D56-AD46-86D705E1CF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47734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18571F11-F4F5-BC0A-2A14-906B06726952}"/>
            </a:ext>
          </a:extLst>
        </p:cNvPr>
        <p:cNvGrpSpPr/>
        <p:nvPr/>
      </p:nvGrpSpPr>
      <p:grpSpPr>
        <a:xfrm>
          <a:off x="0" y="0"/>
          <a:ext cx="0" cy="0"/>
          <a:chOff x="0" y="0"/>
          <a:chExt cx="0" cy="0"/>
        </a:xfrm>
      </p:grpSpPr>
      <p:sp>
        <p:nvSpPr>
          <p:cNvPr id="144" name="Google Shape;144;g2d108006645_0_767:notes">
            <a:extLst>
              <a:ext uri="{FF2B5EF4-FFF2-40B4-BE49-F238E27FC236}">
                <a16:creationId xmlns:a16="http://schemas.microsoft.com/office/drawing/2014/main" id="{1E84364A-E3CD-72A6-4543-F84715C12D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d108006645_0_767:notes">
            <a:extLst>
              <a:ext uri="{FF2B5EF4-FFF2-40B4-BE49-F238E27FC236}">
                <a16:creationId xmlns:a16="http://schemas.microsoft.com/office/drawing/2014/main" id="{88FB5C52-A6A0-4123-5CCE-3525ABFE47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0294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6FBE7E23-C27A-B116-BDF1-7E0BED972286}"/>
            </a:ext>
          </a:extLst>
        </p:cNvPr>
        <p:cNvGrpSpPr/>
        <p:nvPr/>
      </p:nvGrpSpPr>
      <p:grpSpPr>
        <a:xfrm>
          <a:off x="0" y="0"/>
          <a:ext cx="0" cy="0"/>
          <a:chOff x="0" y="0"/>
          <a:chExt cx="0" cy="0"/>
        </a:xfrm>
      </p:grpSpPr>
      <p:sp>
        <p:nvSpPr>
          <p:cNvPr id="137" name="Google Shape;137;g338eebcd262_0_34:notes">
            <a:extLst>
              <a:ext uri="{FF2B5EF4-FFF2-40B4-BE49-F238E27FC236}">
                <a16:creationId xmlns:a16="http://schemas.microsoft.com/office/drawing/2014/main" id="{ED94BAB2-B3D6-1726-B710-1BD06528E8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38eebcd262_0_34:notes">
            <a:extLst>
              <a:ext uri="{FF2B5EF4-FFF2-40B4-BE49-F238E27FC236}">
                <a16:creationId xmlns:a16="http://schemas.microsoft.com/office/drawing/2014/main" id="{46CD65C6-46A9-26EC-3357-8D2E328E2C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283152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BD9EF5F7-C03D-B79F-DF29-A20546F85505}"/>
            </a:ext>
          </a:extLst>
        </p:cNvPr>
        <p:cNvGrpSpPr/>
        <p:nvPr/>
      </p:nvGrpSpPr>
      <p:grpSpPr>
        <a:xfrm>
          <a:off x="0" y="0"/>
          <a:ext cx="0" cy="0"/>
          <a:chOff x="0" y="0"/>
          <a:chExt cx="0" cy="0"/>
        </a:xfrm>
      </p:grpSpPr>
      <p:sp>
        <p:nvSpPr>
          <p:cNvPr id="144" name="Google Shape;144;g2d108006645_0_767:notes">
            <a:extLst>
              <a:ext uri="{FF2B5EF4-FFF2-40B4-BE49-F238E27FC236}">
                <a16:creationId xmlns:a16="http://schemas.microsoft.com/office/drawing/2014/main" id="{972B3295-2FCB-89FF-FF3C-357A647006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d108006645_0_767:notes">
            <a:extLst>
              <a:ext uri="{FF2B5EF4-FFF2-40B4-BE49-F238E27FC236}">
                <a16:creationId xmlns:a16="http://schemas.microsoft.com/office/drawing/2014/main" id="{887CA2B2-D24B-8522-A502-F8F89DCA24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46868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09959C79-D0C3-87BB-16A6-3D0F6BA83990}"/>
            </a:ext>
          </a:extLst>
        </p:cNvPr>
        <p:cNvGrpSpPr/>
        <p:nvPr/>
      </p:nvGrpSpPr>
      <p:grpSpPr>
        <a:xfrm>
          <a:off x="0" y="0"/>
          <a:ext cx="0" cy="0"/>
          <a:chOff x="0" y="0"/>
          <a:chExt cx="0" cy="0"/>
        </a:xfrm>
      </p:grpSpPr>
      <p:sp>
        <p:nvSpPr>
          <p:cNvPr id="137" name="Google Shape;137;g338eebcd262_0_34:notes">
            <a:extLst>
              <a:ext uri="{FF2B5EF4-FFF2-40B4-BE49-F238E27FC236}">
                <a16:creationId xmlns:a16="http://schemas.microsoft.com/office/drawing/2014/main" id="{0C1A9CC7-824A-FDB9-C45B-A35EA8BD41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38eebcd262_0_34:notes">
            <a:extLst>
              <a:ext uri="{FF2B5EF4-FFF2-40B4-BE49-F238E27FC236}">
                <a16:creationId xmlns:a16="http://schemas.microsoft.com/office/drawing/2014/main" id="{09DD6396-ECDC-3B58-6F40-61C2EEE112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6977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s-ES"/>
              <a:t>Haga clic para modificar el estilo de título del patrón</a:t>
            </a:r>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r>
              <a:rPr lang="es-ES"/>
              <a:t>Haga clic para modificar el estilo de subtítulo del patrón</a:t>
            </a:r>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s-ES"/>
              <a:t>Haga clic para modificar el estilo de título del patrón</a:t>
            </a:r>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s-ES"/>
              <a:t>Haga clic para modificar el estilo de título del patrón</a:t>
            </a:r>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lvl="0"/>
            <a:r>
              <a:rPr lang="es-ES"/>
              <a:t>Haga clic para modificar los estilos de texto del patrón</a:t>
            </a: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s-ES"/>
              <a:t>Haga clic para modificar el estilo de título del patrón</a:t>
            </a:r>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s-ES"/>
              <a:t>Haga clic para modificar los estilos de texto del patrón</a:t>
            </a: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s-ES"/>
              <a:t>Haga clic para modificar los estilos de texto del patrón</a:t>
            </a: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s-ES"/>
              <a:t>Haga clic para modificar el estilo de título del patrón</a:t>
            </a:r>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r>
              <a:rPr lang="es-ES"/>
              <a:t>Haga clic para modificar el estilo de título del patrón</a:t>
            </a:r>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s-ES"/>
              <a:t>Haga clic para modificar los estilos de texto del patrón</a:t>
            </a: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r>
              <a:rPr lang="es-ES"/>
              <a:t>Haga clic para modificar el estilo de título del patrón</a:t>
            </a:r>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r>
              <a:rPr lang="es-ES"/>
              <a:t>Haga clic para modificar el estilo de título del patrón</a:t>
            </a:r>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r>
              <a:rPr lang="es-ES"/>
              <a:t>Haga clic para modificar el estilo de subtítulo del patrón</a:t>
            </a:r>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lvl="0"/>
            <a:r>
              <a:rPr lang="es-ES"/>
              <a:t>Haga clic para modificar los estilos de texto del patrón</a:t>
            </a: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pPr lvl="0"/>
            <a:r>
              <a:rPr lang="es-ES"/>
              <a:t>Haga clic para modificar los estilos de texto del patrón</a:t>
            </a: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lvl="0"/>
            <a:r>
              <a:rPr lang="es-ES"/>
              <a:t>Haga clic para modificar los estilos de texto del patrón</a:t>
            </a: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En blanco">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3"/>
        <p:cNvGrpSpPr/>
        <p:nvPr/>
      </p:nvGrpSpPr>
      <p:grpSpPr>
        <a:xfrm>
          <a:off x="0" y="0"/>
          <a:ext cx="0" cy="0"/>
          <a:chOff x="0" y="0"/>
          <a:chExt cx="0" cy="0"/>
        </a:xfrm>
      </p:grpSpPr>
      <p:pic>
        <p:nvPicPr>
          <p:cNvPr id="54" name="Google Shape;54;p13"/>
          <p:cNvPicPr preferRelativeResize="0"/>
          <p:nvPr/>
        </p:nvPicPr>
        <p:blipFill>
          <a:blip r:embed="rId3">
            <a:alphaModFix amt="55000"/>
          </a:blip>
          <a:stretch>
            <a:fillRect/>
          </a:stretch>
        </p:blipFill>
        <p:spPr>
          <a:xfrm>
            <a:off x="8" y="13"/>
            <a:ext cx="9144003" cy="5143484"/>
          </a:xfrm>
          <a:prstGeom prst="rect">
            <a:avLst/>
          </a:prstGeom>
          <a:noFill/>
          <a:ln>
            <a:noFill/>
          </a:ln>
        </p:spPr>
      </p:pic>
      <p:sp>
        <p:nvSpPr>
          <p:cNvPr id="55" name="Google Shape;55;p13"/>
          <p:cNvSpPr/>
          <p:nvPr/>
        </p:nvSpPr>
        <p:spPr>
          <a:xfrm>
            <a:off x="6751225" y="130900"/>
            <a:ext cx="1037215" cy="556951"/>
          </a:xfrm>
          <a:custGeom>
            <a:avLst/>
            <a:gdLst/>
            <a:ahLst/>
            <a:cxnLst/>
            <a:rect l="l" t="t" r="r" b="b"/>
            <a:pathLst>
              <a:path w="1445596" h="792813" extrusionOk="0">
                <a:moveTo>
                  <a:pt x="0" y="0"/>
                </a:moveTo>
                <a:lnTo>
                  <a:pt x="1445596" y="0"/>
                </a:lnTo>
                <a:lnTo>
                  <a:pt x="1445596" y="792812"/>
                </a:lnTo>
                <a:lnTo>
                  <a:pt x="0" y="792812"/>
                </a:lnTo>
                <a:lnTo>
                  <a:pt x="0" y="0"/>
                </a:lnTo>
                <a:close/>
              </a:path>
            </a:pathLst>
          </a:custGeom>
          <a:blipFill rotWithShape="1">
            <a:blip r:embed="rId4">
              <a:alphaModFix/>
            </a:blip>
            <a:stretch>
              <a:fillRect/>
            </a:stretch>
          </a:blipFill>
          <a:ln>
            <a:noFill/>
          </a:ln>
        </p:spPr>
        <p:txBody>
          <a:bodyPr/>
          <a:lstStyle/>
          <a:p>
            <a:endParaRPr lang="es-CL"/>
          </a:p>
        </p:txBody>
      </p:sp>
      <p:sp>
        <p:nvSpPr>
          <p:cNvPr id="56" name="Google Shape;56;p13"/>
          <p:cNvSpPr/>
          <p:nvPr/>
        </p:nvSpPr>
        <p:spPr>
          <a:xfrm>
            <a:off x="7848909" y="223304"/>
            <a:ext cx="1151847" cy="372310"/>
          </a:xfrm>
          <a:custGeom>
            <a:avLst/>
            <a:gdLst/>
            <a:ahLst/>
            <a:cxnLst/>
            <a:rect l="l" t="t" r="r" b="b"/>
            <a:pathLst>
              <a:path w="1481475" h="529979" extrusionOk="0">
                <a:moveTo>
                  <a:pt x="0" y="0"/>
                </a:moveTo>
                <a:lnTo>
                  <a:pt x="1481475" y="0"/>
                </a:lnTo>
                <a:lnTo>
                  <a:pt x="1481475" y="529979"/>
                </a:lnTo>
                <a:lnTo>
                  <a:pt x="0" y="529979"/>
                </a:lnTo>
                <a:lnTo>
                  <a:pt x="0" y="0"/>
                </a:lnTo>
                <a:close/>
              </a:path>
            </a:pathLst>
          </a:custGeom>
          <a:blipFill rotWithShape="1">
            <a:blip r:embed="rId5">
              <a:alphaModFix/>
            </a:blip>
            <a:stretch>
              <a:fillRect l="-579" b="-25708"/>
            </a:stretch>
          </a:blipFill>
          <a:ln>
            <a:noFill/>
          </a:ln>
        </p:spPr>
        <p:txBody>
          <a:bodyPr/>
          <a:lstStyle/>
          <a:p>
            <a:endParaRPr lang="es-CL"/>
          </a:p>
        </p:txBody>
      </p:sp>
      <p:sp>
        <p:nvSpPr>
          <p:cNvPr id="57" name="Google Shape;57;p13"/>
          <p:cNvSpPr txBox="1"/>
          <p:nvPr/>
        </p:nvSpPr>
        <p:spPr>
          <a:xfrm>
            <a:off x="994550" y="2236428"/>
            <a:ext cx="7651362" cy="2769989"/>
          </a:xfrm>
          <a:prstGeom prst="rect">
            <a:avLst/>
          </a:prstGeom>
          <a:noFill/>
          <a:ln>
            <a:noFill/>
          </a:ln>
        </p:spPr>
        <p:txBody>
          <a:bodyPr spcFirstLastPara="1" wrap="square" lIns="0" tIns="0" rIns="0" bIns="0" anchor="t" anchorCtr="0">
            <a:spAutoFit/>
          </a:bodyPr>
          <a:lstStyle/>
          <a:p>
            <a:r>
              <a:rPr lang="es" sz="2000" dirty="0">
                <a:solidFill>
                  <a:srgbClr val="FFFFFF"/>
                </a:solidFill>
                <a:latin typeface="Montserrat ExtraBold"/>
                <a:sym typeface="Montserrat ExtraBold"/>
              </a:rPr>
              <a:t>Certamen III: Lenguajes de Programación</a:t>
            </a:r>
            <a:br>
              <a:rPr lang="es" sz="2000" dirty="0">
                <a:latin typeface="Montserrat ExtraBold"/>
              </a:rPr>
            </a:br>
            <a:endParaRPr lang="es" sz="2000" dirty="0">
              <a:latin typeface="Montserrat ExtraBold"/>
            </a:endParaRPr>
          </a:p>
          <a:p>
            <a:r>
              <a:rPr lang="es-MX" sz="2000" dirty="0">
                <a:solidFill>
                  <a:srgbClr val="FFFFFF"/>
                </a:solidFill>
                <a:latin typeface="Montserrat ExtraBold"/>
              </a:rPr>
              <a:t>Implementación de un Motor de Búsqueda mediante Índice Invertido y Procesamiento Recursivo</a:t>
            </a:r>
            <a:endParaRPr lang="es" sz="2000" dirty="0">
              <a:solidFill>
                <a:srgbClr val="FFFFFF"/>
              </a:solidFill>
              <a:latin typeface="Montserrat ExtraBold"/>
            </a:endParaRPr>
          </a:p>
          <a:p>
            <a:endParaRPr lang="es" sz="2000" dirty="0">
              <a:solidFill>
                <a:srgbClr val="FFFFFF"/>
              </a:solidFill>
              <a:ea typeface="Montserrat ExtraBold"/>
            </a:endParaRPr>
          </a:p>
          <a:p>
            <a:endParaRPr lang="es" sz="2000" dirty="0">
              <a:solidFill>
                <a:srgbClr val="FFFFFF"/>
              </a:solidFill>
              <a:latin typeface="Montserrat ExtraBold"/>
              <a:ea typeface="Montserrat ExtraBold"/>
            </a:endParaRPr>
          </a:p>
          <a:p>
            <a:endParaRPr lang="es" sz="2000" dirty="0">
              <a:solidFill>
                <a:srgbClr val="FFFFFF"/>
              </a:solidFill>
              <a:latin typeface="Montserrat ExtraBold"/>
              <a:ea typeface="Montserrat ExtraBold"/>
            </a:endParaRPr>
          </a:p>
          <a:p>
            <a:br>
              <a:rPr lang="es" sz="2000" dirty="0">
                <a:latin typeface="Montserrat ExtraBold"/>
                <a:ea typeface="Montserrat ExtraBold"/>
              </a:rPr>
            </a:br>
            <a:endParaRPr lang="es" sz="2000" dirty="0">
              <a:solidFill>
                <a:srgbClr val="FFFFFF"/>
              </a:solidFill>
              <a:latin typeface="Montserrat ExtraBold"/>
            </a:endParaRPr>
          </a:p>
        </p:txBody>
      </p:sp>
      <p:grpSp>
        <p:nvGrpSpPr>
          <p:cNvPr id="58" name="Google Shape;58;p13"/>
          <p:cNvGrpSpPr/>
          <p:nvPr/>
        </p:nvGrpSpPr>
        <p:grpSpPr>
          <a:xfrm>
            <a:off x="752552" y="2482747"/>
            <a:ext cx="45157" cy="814002"/>
            <a:chOff x="0" y="-38100"/>
            <a:chExt cx="12686" cy="304904"/>
          </a:xfrm>
        </p:grpSpPr>
        <p:sp>
          <p:nvSpPr>
            <p:cNvPr id="59" name="Google Shape;59;p13"/>
            <p:cNvSpPr/>
            <p:nvPr/>
          </p:nvSpPr>
          <p:spPr>
            <a:xfrm>
              <a:off x="0" y="0"/>
              <a:ext cx="12686" cy="266804"/>
            </a:xfrm>
            <a:custGeom>
              <a:avLst/>
              <a:gdLst/>
              <a:ahLst/>
              <a:cxnLst/>
              <a:rect l="l" t="t" r="r" b="b"/>
              <a:pathLst>
                <a:path w="12686" h="266804" extrusionOk="0">
                  <a:moveTo>
                    <a:pt x="0" y="0"/>
                  </a:moveTo>
                  <a:lnTo>
                    <a:pt x="12686" y="0"/>
                  </a:lnTo>
                  <a:lnTo>
                    <a:pt x="12686" y="266804"/>
                  </a:lnTo>
                  <a:lnTo>
                    <a:pt x="0" y="266804"/>
                  </a:lnTo>
                  <a:close/>
                </a:path>
              </a:pathLst>
            </a:custGeom>
            <a:solidFill>
              <a:srgbClr val="FFFFFF"/>
            </a:solidFill>
            <a:ln>
              <a:noFill/>
            </a:ln>
          </p:spPr>
          <p:txBody>
            <a:bodyPr/>
            <a:lstStyle/>
            <a:p>
              <a:endParaRPr lang="es-CL"/>
            </a:p>
          </p:txBody>
        </p:sp>
        <p:sp>
          <p:nvSpPr>
            <p:cNvPr id="60" name="Google Shape;60;p13"/>
            <p:cNvSpPr txBox="1"/>
            <p:nvPr/>
          </p:nvSpPr>
          <p:spPr>
            <a:xfrm>
              <a:off x="0" y="-38100"/>
              <a:ext cx="12600" cy="304800"/>
            </a:xfrm>
            <a:prstGeom prst="rect">
              <a:avLst/>
            </a:prstGeom>
            <a:noFill/>
            <a:ln>
              <a:noFill/>
            </a:ln>
          </p:spPr>
          <p:txBody>
            <a:bodyPr spcFirstLastPara="1" wrap="square" lIns="47625" tIns="47625" rIns="47625" bIns="47625" anchor="ctr" anchorCtr="0">
              <a:noAutofit/>
            </a:bodyPr>
            <a:lstStyle/>
            <a:p>
              <a:pPr marL="0" marR="0" lvl="0" indent="0" algn="ctr" rtl="0">
                <a:lnSpc>
                  <a:spcPct val="147722"/>
                </a:lnSpc>
                <a:spcBef>
                  <a:spcPts val="0"/>
                </a:spcBef>
                <a:spcAft>
                  <a:spcPts val="0"/>
                </a:spcAft>
                <a:buNone/>
              </a:pPr>
              <a:endParaRPr sz="1700" b="0" i="0" u="none" strike="noStrike" cap="none">
                <a:solidFill>
                  <a:srgbClr val="000000"/>
                </a:solidFill>
                <a:latin typeface="Calibri"/>
                <a:ea typeface="Calibri"/>
                <a:cs typeface="Calibri"/>
                <a:sym typeface="Calibri"/>
              </a:endParaRPr>
            </a:p>
          </p:txBody>
        </p:sp>
      </p:grpSp>
      <p:sp>
        <p:nvSpPr>
          <p:cNvPr id="62" name="Google Shape;62;p13"/>
          <p:cNvSpPr txBox="1"/>
          <p:nvPr/>
        </p:nvSpPr>
        <p:spPr>
          <a:xfrm>
            <a:off x="994550" y="3622691"/>
            <a:ext cx="4731600" cy="1599669"/>
          </a:xfrm>
          <a:prstGeom prst="rect">
            <a:avLst/>
          </a:prstGeom>
          <a:noFill/>
          <a:ln>
            <a:noFill/>
          </a:ln>
        </p:spPr>
        <p:txBody>
          <a:bodyPr spcFirstLastPara="1" wrap="square" lIns="0" tIns="0" rIns="0" bIns="0" anchor="t" anchorCtr="0">
            <a:spAutoFit/>
          </a:bodyPr>
          <a:lstStyle/>
          <a:p>
            <a:pPr>
              <a:lnSpc>
                <a:spcPct val="135056"/>
              </a:lnSpc>
            </a:pPr>
            <a:r>
              <a:rPr lang="es" sz="1100" b="1">
                <a:solidFill>
                  <a:srgbClr val="FFFFFF"/>
                </a:solidFill>
                <a:latin typeface="Roboto"/>
                <a:ea typeface="Roboto"/>
                <a:cs typeface="Roboto"/>
                <a:sym typeface="Roboto"/>
              </a:rPr>
              <a:t>Camilo </a:t>
            </a:r>
            <a:r>
              <a:rPr lang="es" sz="1100" b="1" err="1">
                <a:solidFill>
                  <a:srgbClr val="FFFFFF"/>
                </a:solidFill>
                <a:latin typeface="Roboto"/>
                <a:ea typeface="Roboto"/>
                <a:cs typeface="Roboto"/>
                <a:sym typeface="Roboto"/>
              </a:rPr>
              <a:t>Chavol</a:t>
            </a:r>
            <a:r>
              <a:rPr lang="es" sz="1100" b="1">
                <a:solidFill>
                  <a:srgbClr val="FFFFFF"/>
                </a:solidFill>
                <a:latin typeface="Roboto"/>
                <a:ea typeface="Roboto"/>
                <a:cs typeface="Roboto"/>
                <a:sym typeface="Roboto"/>
              </a:rPr>
              <a:t> – Graciela Suárez - </a:t>
            </a:r>
            <a:r>
              <a:rPr lang="es" sz="1100" b="1" err="1">
                <a:solidFill>
                  <a:srgbClr val="FFFFFF"/>
                </a:solidFill>
                <a:latin typeface="Roboto"/>
                <a:ea typeface="Roboto"/>
                <a:cs typeface="Roboto"/>
                <a:sym typeface="Roboto"/>
              </a:rPr>
              <a:t>Romily</a:t>
            </a:r>
            <a:r>
              <a:rPr lang="es" sz="1100" b="1">
                <a:solidFill>
                  <a:srgbClr val="FFFFFF"/>
                </a:solidFill>
                <a:latin typeface="Roboto"/>
                <a:ea typeface="Roboto"/>
                <a:cs typeface="Roboto"/>
                <a:sym typeface="Roboto"/>
              </a:rPr>
              <a:t> Barría</a:t>
            </a:r>
            <a:endParaRPr lang="es-ES"/>
          </a:p>
          <a:p>
            <a:pPr>
              <a:lnSpc>
                <a:spcPct val="135056"/>
              </a:lnSpc>
            </a:pPr>
            <a:r>
              <a:rPr lang="es" sz="1100" b="1" i="0" u="none" strike="noStrike" cap="none">
                <a:solidFill>
                  <a:srgbClr val="FFFFFF"/>
                </a:solidFill>
                <a:latin typeface="Roboto"/>
                <a:ea typeface="Roboto"/>
                <a:cs typeface="Roboto"/>
                <a:sym typeface="Roboto"/>
              </a:rPr>
              <a:t>Prof. Guía: </a:t>
            </a:r>
            <a:r>
              <a:rPr lang="es" sz="1100" b="1">
                <a:solidFill>
                  <a:srgbClr val="FFFFFF"/>
                </a:solidFill>
                <a:latin typeface="Roboto"/>
                <a:ea typeface="Roboto"/>
                <a:cs typeface="Roboto"/>
                <a:sym typeface="Roboto"/>
              </a:rPr>
              <a:t>Alonso </a:t>
            </a:r>
            <a:r>
              <a:rPr lang="es" sz="1100" b="1" err="1">
                <a:solidFill>
                  <a:srgbClr val="FFFFFF"/>
                </a:solidFill>
                <a:latin typeface="Roboto"/>
                <a:ea typeface="Roboto"/>
                <a:cs typeface="Roboto"/>
                <a:sym typeface="Roboto"/>
              </a:rPr>
              <a:t>Inostrosa</a:t>
            </a:r>
            <a:r>
              <a:rPr lang="es" sz="1100" b="1">
                <a:solidFill>
                  <a:srgbClr val="FFFFFF"/>
                </a:solidFill>
                <a:latin typeface="Roboto"/>
                <a:ea typeface="Roboto"/>
                <a:cs typeface="Roboto"/>
                <a:sym typeface="Roboto"/>
              </a:rPr>
              <a:t> </a:t>
            </a:r>
            <a:r>
              <a:rPr lang="es" sz="1100" b="1" err="1">
                <a:solidFill>
                  <a:srgbClr val="FFFFFF"/>
                </a:solidFill>
                <a:latin typeface="Roboto"/>
                <a:ea typeface="Roboto"/>
                <a:cs typeface="Roboto"/>
                <a:sym typeface="Roboto"/>
              </a:rPr>
              <a:t>Psijas</a:t>
            </a:r>
            <a:endParaRPr sz="1100" b="1" err="1">
              <a:solidFill>
                <a:srgbClr val="FFFFFF"/>
              </a:solidFill>
              <a:latin typeface="Roboto"/>
              <a:ea typeface="Roboto"/>
              <a:cs typeface="Roboto"/>
              <a:sym typeface="Roboto"/>
            </a:endParaRPr>
          </a:p>
          <a:p>
            <a:pPr marL="0" marR="0" lvl="0" indent="0" algn="l" rtl="0">
              <a:lnSpc>
                <a:spcPct val="135056"/>
              </a:lnSpc>
              <a:spcBef>
                <a:spcPts val="0"/>
              </a:spcBef>
              <a:spcAft>
                <a:spcPts val="0"/>
              </a:spcAft>
              <a:buNone/>
            </a:pPr>
            <a:r>
              <a:rPr lang="es" sz="1100" b="0" i="0" u="none" strike="noStrike" cap="none">
                <a:solidFill>
                  <a:srgbClr val="FFFFFF"/>
                </a:solidFill>
                <a:latin typeface="Roboto"/>
                <a:ea typeface="Roboto"/>
                <a:cs typeface="Roboto"/>
                <a:sym typeface="Roboto"/>
              </a:rPr>
              <a:t>Escuela de Ingeniería Informática</a:t>
            </a:r>
            <a:endParaRPr sz="1200"/>
          </a:p>
          <a:p>
            <a:pPr marL="0" marR="0" lvl="0" indent="0" algn="l" rtl="0">
              <a:lnSpc>
                <a:spcPct val="135056"/>
              </a:lnSpc>
              <a:spcBef>
                <a:spcPts val="0"/>
              </a:spcBef>
              <a:spcAft>
                <a:spcPts val="0"/>
              </a:spcAft>
              <a:buNone/>
            </a:pPr>
            <a:r>
              <a:rPr lang="es" sz="1100" b="0" i="0" u="none" strike="noStrike" cap="none">
                <a:solidFill>
                  <a:srgbClr val="FFFFFF"/>
                </a:solidFill>
                <a:latin typeface="Roboto"/>
                <a:ea typeface="Roboto"/>
                <a:cs typeface="Roboto"/>
                <a:sym typeface="Roboto"/>
              </a:rPr>
              <a:t>Facultad de Ingeniería</a:t>
            </a:r>
            <a:endParaRPr sz="1200"/>
          </a:p>
          <a:p>
            <a:pPr marL="0" marR="0" lvl="0" indent="0" algn="l" rtl="0">
              <a:lnSpc>
                <a:spcPct val="135056"/>
              </a:lnSpc>
              <a:spcBef>
                <a:spcPts val="0"/>
              </a:spcBef>
              <a:spcAft>
                <a:spcPts val="0"/>
              </a:spcAft>
              <a:buNone/>
            </a:pPr>
            <a:r>
              <a:rPr lang="es" sz="1100" b="0" i="0" u="none" strike="noStrike" cap="none">
                <a:solidFill>
                  <a:srgbClr val="FFFFFF"/>
                </a:solidFill>
                <a:latin typeface="Roboto"/>
                <a:ea typeface="Roboto"/>
                <a:cs typeface="Roboto"/>
                <a:sym typeface="Roboto"/>
              </a:rPr>
              <a:t>Universidad de Valparaíso</a:t>
            </a:r>
            <a:endParaRPr sz="1200"/>
          </a:p>
          <a:p>
            <a:pPr marL="0" marR="0" lvl="0" indent="0" algn="l" rtl="0">
              <a:lnSpc>
                <a:spcPct val="135056"/>
              </a:lnSpc>
              <a:spcBef>
                <a:spcPts val="0"/>
              </a:spcBef>
              <a:spcAft>
                <a:spcPts val="0"/>
              </a:spcAft>
              <a:buNone/>
            </a:pPr>
            <a:endParaRPr sz="1100" b="0" i="0" u="none" strike="noStrike" cap="none">
              <a:solidFill>
                <a:srgbClr val="FFFFFF"/>
              </a:solidFill>
              <a:latin typeface="Roboto"/>
              <a:ea typeface="Roboto"/>
              <a:cs typeface="Roboto"/>
              <a:sym typeface="Roboto"/>
            </a:endParaRPr>
          </a:p>
          <a:p>
            <a:pPr marL="0" marR="0" lvl="0" indent="0" algn="l" rtl="0">
              <a:lnSpc>
                <a:spcPct val="135056"/>
              </a:lnSpc>
              <a:spcBef>
                <a:spcPts val="0"/>
              </a:spcBef>
              <a:spcAft>
                <a:spcPts val="0"/>
              </a:spcAft>
              <a:buNone/>
            </a:pPr>
            <a:endParaRPr sz="1100" b="0" i="0" u="none" strike="noStrike" cap="none">
              <a:solidFill>
                <a:srgbClr val="FFFFFF"/>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93B"/>
        </a:solidFill>
        <a:effectLst/>
      </p:bgPr>
    </p:bg>
    <p:spTree>
      <p:nvGrpSpPr>
        <p:cNvPr id="1" name="Shape 66"/>
        <p:cNvGrpSpPr/>
        <p:nvPr/>
      </p:nvGrpSpPr>
      <p:grpSpPr>
        <a:xfrm>
          <a:off x="0" y="0"/>
          <a:ext cx="0" cy="0"/>
          <a:chOff x="0" y="0"/>
          <a:chExt cx="0" cy="0"/>
        </a:xfrm>
      </p:grpSpPr>
      <p:pic>
        <p:nvPicPr>
          <p:cNvPr id="67" name="Google Shape;67;p14"/>
          <p:cNvPicPr preferRelativeResize="0"/>
          <p:nvPr/>
        </p:nvPicPr>
        <p:blipFill>
          <a:blip r:embed="rId3">
            <a:alphaModFix amt="55000"/>
          </a:blip>
          <a:stretch>
            <a:fillRect/>
          </a:stretch>
        </p:blipFill>
        <p:spPr>
          <a:xfrm>
            <a:off x="8" y="13"/>
            <a:ext cx="9144003" cy="5143484"/>
          </a:xfrm>
          <a:prstGeom prst="rect">
            <a:avLst/>
          </a:prstGeom>
          <a:noFill/>
          <a:ln>
            <a:noFill/>
          </a:ln>
        </p:spPr>
      </p:pic>
      <p:sp>
        <p:nvSpPr>
          <p:cNvPr id="68" name="Google Shape;68;p14"/>
          <p:cNvSpPr txBox="1"/>
          <p:nvPr/>
        </p:nvSpPr>
        <p:spPr>
          <a:xfrm>
            <a:off x="465104" y="1042802"/>
            <a:ext cx="8209127" cy="2600712"/>
          </a:xfrm>
          <a:prstGeom prst="rect">
            <a:avLst/>
          </a:prstGeom>
          <a:noFill/>
          <a:ln>
            <a:noFill/>
          </a:ln>
        </p:spPr>
        <p:txBody>
          <a:bodyPr spcFirstLastPara="1" wrap="square" lIns="0" tIns="0" rIns="0" bIns="0" anchor="t" anchorCtr="0">
            <a:spAutoFit/>
          </a:bodyPr>
          <a:lstStyle/>
          <a:p>
            <a:r>
              <a:rPr lang="es" sz="1300" dirty="0">
                <a:solidFill>
                  <a:srgbClr val="FFFFFF"/>
                </a:solidFill>
                <a:ea typeface="Roboto"/>
              </a:rPr>
              <a:t> </a:t>
            </a:r>
            <a:r>
              <a:rPr lang="es-MX" sz="1300" dirty="0">
                <a:solidFill>
                  <a:srgbClr val="FFFFFF"/>
                </a:solidFill>
                <a:ea typeface="Roboto"/>
              </a:rPr>
              <a:t>Este proyecto consiste en diseñar y construir un Motor de Búsqueda de texto completo funcional, partiendo desde los datos crudos (dataset.csv) hasta la consulta interactiva. Para ello, implementamos la estructura de datos más eficiente para la recuperación de información: el Índice Invertido. </a:t>
            </a:r>
          </a:p>
          <a:p>
            <a:endParaRPr lang="es-MX" sz="1300" dirty="0">
              <a:solidFill>
                <a:srgbClr val="FFFFFF"/>
              </a:solidFill>
              <a:ea typeface="Roboto"/>
            </a:endParaRPr>
          </a:p>
          <a:p>
            <a:r>
              <a:rPr lang="es-MX" sz="1300" dirty="0">
                <a:solidFill>
                  <a:srgbClr val="FFFFFF"/>
                </a:solidFill>
                <a:ea typeface="Roboto"/>
              </a:rPr>
              <a:t>    El proyecto exigió la integración exitosa de múltiples paradigmas, destacando la programación declarativa. </a:t>
            </a:r>
          </a:p>
          <a:p>
            <a:r>
              <a:rPr lang="es-MX" sz="1300" dirty="0">
                <a:solidFill>
                  <a:srgbClr val="FFFFFF"/>
                </a:solidFill>
                <a:ea typeface="Roboto"/>
              </a:rPr>
              <a:t>-Modularidad: El flujo de trabajo se dividió en tres módulos (Indexación, Limpieza, Búsqueda) para garantizar la escalabilidad y el cumplimiento de requisitos de lenguaje específicos. </a:t>
            </a:r>
          </a:p>
          <a:p>
            <a:endParaRPr lang="es-MX" sz="1300" dirty="0">
              <a:solidFill>
                <a:srgbClr val="FFFFFF"/>
              </a:solidFill>
              <a:ea typeface="Roboto"/>
            </a:endParaRPr>
          </a:p>
          <a:p>
            <a:r>
              <a:rPr lang="es-MX" sz="1300" dirty="0">
                <a:solidFill>
                  <a:srgbClr val="FFFFFF"/>
                </a:solidFill>
                <a:ea typeface="Roboto"/>
              </a:rPr>
              <a:t>-Recursividad: Se implementó obligatoriamente el filtro de </a:t>
            </a:r>
            <a:r>
              <a:rPr lang="es-MX" sz="1300" dirty="0" err="1">
                <a:solidFill>
                  <a:srgbClr val="FFFFFF"/>
                </a:solidFill>
                <a:ea typeface="Roboto"/>
              </a:rPr>
              <a:t>stopwords</a:t>
            </a:r>
            <a:r>
              <a:rPr lang="es-MX" sz="1300" dirty="0">
                <a:solidFill>
                  <a:srgbClr val="FFFFFF"/>
                </a:solidFill>
                <a:ea typeface="Roboto"/>
              </a:rPr>
              <a:t> mediante un algoritmo recursivo en Python, demostrando el manejo del flujo de control funcional. </a:t>
            </a:r>
          </a:p>
          <a:p>
            <a:endParaRPr lang="es-MX" sz="1300" dirty="0">
              <a:solidFill>
                <a:srgbClr val="FFFFFF"/>
              </a:solidFill>
              <a:ea typeface="Roboto"/>
            </a:endParaRPr>
          </a:p>
          <a:p>
            <a:r>
              <a:rPr lang="es-MX" sz="1300" dirty="0">
                <a:solidFill>
                  <a:srgbClr val="FFFFFF"/>
                </a:solidFill>
                <a:ea typeface="Roboto"/>
              </a:rPr>
              <a:t>-Precisión: La búsqueda se basa en la Lógica AND, utilizando operaciones de conjuntos (Intersección) para asegurar que el resultado coincida con todos los términos ingresados por el usuario.</a:t>
            </a:r>
            <a:endParaRPr lang="es" sz="1300" dirty="0">
              <a:solidFill>
                <a:srgbClr val="FFFFFF"/>
              </a:solidFill>
              <a:ea typeface="Roboto"/>
            </a:endParaRPr>
          </a:p>
        </p:txBody>
      </p:sp>
      <p:sp>
        <p:nvSpPr>
          <p:cNvPr id="69" name="Google Shape;69;p14"/>
          <p:cNvSpPr txBox="1"/>
          <p:nvPr/>
        </p:nvSpPr>
        <p:spPr>
          <a:xfrm>
            <a:off x="716489" y="361646"/>
            <a:ext cx="4934400" cy="472500"/>
          </a:xfrm>
          <a:prstGeom prst="rect">
            <a:avLst/>
          </a:prstGeom>
          <a:noFill/>
          <a:ln>
            <a:noFill/>
          </a:ln>
        </p:spPr>
        <p:txBody>
          <a:bodyPr spcFirstLastPara="1" wrap="square" lIns="0" tIns="0" rIns="0" bIns="0" anchor="t" anchorCtr="0">
            <a:spAutoFit/>
          </a:bodyPr>
          <a:lstStyle/>
          <a:p>
            <a:pPr marL="0" marR="0" lvl="0" indent="0" algn="l" rtl="0">
              <a:lnSpc>
                <a:spcPct val="104983"/>
              </a:lnSpc>
              <a:spcBef>
                <a:spcPts val="0"/>
              </a:spcBef>
              <a:spcAft>
                <a:spcPts val="0"/>
              </a:spcAft>
              <a:buNone/>
            </a:pPr>
            <a:r>
              <a:rPr lang="es" sz="3070">
                <a:solidFill>
                  <a:srgbClr val="FFFFFF"/>
                </a:solidFill>
                <a:latin typeface="Montserrat ExtraBold"/>
                <a:ea typeface="Montserrat ExtraBold"/>
                <a:cs typeface="Montserrat ExtraBold"/>
                <a:sym typeface="Montserrat ExtraBold"/>
              </a:rPr>
              <a:t>Resumen</a:t>
            </a:r>
            <a:endParaRPr sz="3070" i="0" u="none" strike="noStrike" cap="none">
              <a:solidFill>
                <a:srgbClr val="FFFFFF"/>
              </a:solidFill>
              <a:latin typeface="Montserrat ExtraBold"/>
              <a:ea typeface="Montserrat ExtraBold"/>
              <a:cs typeface="Montserrat ExtraBold"/>
              <a:sym typeface="Montserrat ExtraBold"/>
            </a:endParaRPr>
          </a:p>
        </p:txBody>
      </p:sp>
      <p:sp>
        <p:nvSpPr>
          <p:cNvPr id="70" name="Google Shape;70;p14"/>
          <p:cNvSpPr/>
          <p:nvPr/>
        </p:nvSpPr>
        <p:spPr>
          <a:xfrm>
            <a:off x="7892034" y="4670729"/>
            <a:ext cx="1151847" cy="372310"/>
          </a:xfrm>
          <a:custGeom>
            <a:avLst/>
            <a:gdLst/>
            <a:ahLst/>
            <a:cxnLst/>
            <a:rect l="l" t="t" r="r" b="b"/>
            <a:pathLst>
              <a:path w="1481475" h="529979" extrusionOk="0">
                <a:moveTo>
                  <a:pt x="0" y="0"/>
                </a:moveTo>
                <a:lnTo>
                  <a:pt x="1481475" y="0"/>
                </a:lnTo>
                <a:lnTo>
                  <a:pt x="1481475" y="529979"/>
                </a:lnTo>
                <a:lnTo>
                  <a:pt x="0" y="529979"/>
                </a:lnTo>
                <a:lnTo>
                  <a:pt x="0" y="0"/>
                </a:lnTo>
                <a:close/>
              </a:path>
            </a:pathLst>
          </a:custGeom>
          <a:blipFill rotWithShape="1">
            <a:blip r:embed="rId4">
              <a:alphaModFix/>
            </a:blip>
            <a:stretch>
              <a:fillRect l="-579" b="-25708"/>
            </a:stretch>
          </a:blipFill>
          <a:ln>
            <a:noFill/>
          </a:ln>
        </p:spPr>
        <p:txBody>
          <a:bodyPr/>
          <a:lstStyle/>
          <a:p>
            <a:endParaRPr lang="es-CL"/>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93B"/>
        </a:solidFill>
        <a:effectLst/>
      </p:bgPr>
    </p:bg>
    <p:spTree>
      <p:nvGrpSpPr>
        <p:cNvPr id="1" name="Shape 74"/>
        <p:cNvGrpSpPr/>
        <p:nvPr/>
      </p:nvGrpSpPr>
      <p:grpSpPr>
        <a:xfrm>
          <a:off x="0" y="0"/>
          <a:ext cx="0" cy="0"/>
          <a:chOff x="0" y="0"/>
          <a:chExt cx="0" cy="0"/>
        </a:xfrm>
      </p:grpSpPr>
      <p:pic>
        <p:nvPicPr>
          <p:cNvPr id="75" name="Google Shape;75;p15"/>
          <p:cNvPicPr preferRelativeResize="0"/>
          <p:nvPr/>
        </p:nvPicPr>
        <p:blipFill>
          <a:blip r:embed="rId3">
            <a:alphaModFix amt="55000"/>
          </a:blip>
          <a:stretch>
            <a:fillRect/>
          </a:stretch>
        </p:blipFill>
        <p:spPr>
          <a:xfrm>
            <a:off x="8" y="13"/>
            <a:ext cx="9144003" cy="5143484"/>
          </a:xfrm>
          <a:prstGeom prst="rect">
            <a:avLst/>
          </a:prstGeom>
          <a:noFill/>
          <a:ln>
            <a:noFill/>
          </a:ln>
        </p:spPr>
      </p:pic>
      <p:sp>
        <p:nvSpPr>
          <p:cNvPr id="76" name="Google Shape;76;p15"/>
          <p:cNvSpPr txBox="1"/>
          <p:nvPr/>
        </p:nvSpPr>
        <p:spPr>
          <a:xfrm>
            <a:off x="644790" y="1797329"/>
            <a:ext cx="4130700" cy="486000"/>
          </a:xfrm>
          <a:prstGeom prst="rect">
            <a:avLst/>
          </a:prstGeom>
          <a:noFill/>
          <a:ln>
            <a:noFill/>
          </a:ln>
        </p:spPr>
        <p:txBody>
          <a:bodyPr spcFirstLastPara="1" wrap="square" lIns="0" tIns="0" rIns="0" bIns="0" anchor="t" anchorCtr="0">
            <a:spAutoFit/>
          </a:bodyPr>
          <a:lstStyle/>
          <a:p>
            <a:pPr marL="0" marR="0" lvl="0" indent="0" algn="l">
              <a:lnSpc>
                <a:spcPct val="95005"/>
              </a:lnSpc>
              <a:spcBef>
                <a:spcPts val="0"/>
              </a:spcBef>
              <a:spcAft>
                <a:spcPts val="0"/>
              </a:spcAft>
              <a:buNone/>
            </a:pPr>
            <a:r>
              <a:rPr lang="es" sz="3300">
                <a:solidFill>
                  <a:srgbClr val="FFFFFF"/>
                </a:solidFill>
                <a:latin typeface="Montserrat Black"/>
              </a:rPr>
              <a:t>Índice</a:t>
            </a:r>
          </a:p>
        </p:txBody>
      </p:sp>
      <p:sp>
        <p:nvSpPr>
          <p:cNvPr id="77" name="Google Shape;77;p15"/>
          <p:cNvSpPr txBox="1"/>
          <p:nvPr/>
        </p:nvSpPr>
        <p:spPr>
          <a:xfrm>
            <a:off x="4500300" y="1585738"/>
            <a:ext cx="3291604" cy="3231654"/>
          </a:xfrm>
          <a:prstGeom prst="rect">
            <a:avLst/>
          </a:prstGeom>
          <a:noFill/>
          <a:ln>
            <a:noFill/>
          </a:ln>
        </p:spPr>
        <p:txBody>
          <a:bodyPr spcFirstLastPara="1" wrap="square" lIns="0" tIns="0" rIns="0" bIns="0" anchor="t" anchorCtr="0">
            <a:spAutoFit/>
          </a:bodyPr>
          <a:lstStyle/>
          <a:p>
            <a:pPr marL="0" marR="0" lvl="0" indent="0" algn="l" rtl="0">
              <a:lnSpc>
                <a:spcPct val="250080"/>
              </a:lnSpc>
              <a:spcBef>
                <a:spcPts val="0"/>
              </a:spcBef>
              <a:spcAft>
                <a:spcPts val="0"/>
              </a:spcAft>
              <a:buNone/>
            </a:pPr>
            <a:r>
              <a:rPr lang="es" sz="1200" b="0" i="0" u="none" strike="noStrike" cap="none" dirty="0">
                <a:solidFill>
                  <a:srgbClr val="FFFFFF"/>
                </a:solidFill>
                <a:latin typeface="Roboto"/>
                <a:ea typeface="Roboto"/>
                <a:cs typeface="Roboto"/>
                <a:sym typeface="Roboto"/>
              </a:rPr>
              <a:t>Introducción </a:t>
            </a:r>
            <a:endParaRPr sz="1200" dirty="0"/>
          </a:p>
          <a:p>
            <a:pPr>
              <a:lnSpc>
                <a:spcPct val="250080"/>
              </a:lnSpc>
            </a:pPr>
            <a:r>
              <a:rPr lang="es" sz="1200" dirty="0">
                <a:solidFill>
                  <a:srgbClr val="FFFFFF"/>
                </a:solidFill>
                <a:latin typeface="Roboto"/>
                <a:ea typeface="Roboto"/>
                <a:cs typeface="Roboto"/>
                <a:sym typeface="Roboto"/>
              </a:rPr>
              <a:t>Bases y Supuestos</a:t>
            </a:r>
            <a:endParaRPr dirty="0"/>
          </a:p>
          <a:p>
            <a:pPr>
              <a:lnSpc>
                <a:spcPct val="250080"/>
              </a:lnSpc>
            </a:pPr>
            <a:r>
              <a:rPr lang="es" sz="1200" dirty="0">
                <a:solidFill>
                  <a:srgbClr val="FFFFFF"/>
                </a:solidFill>
                <a:ea typeface="Roboto"/>
                <a:sym typeface="Roboto"/>
              </a:rPr>
              <a:t>Arquitectura del Sistema </a:t>
            </a:r>
          </a:p>
          <a:p>
            <a:pPr>
              <a:lnSpc>
                <a:spcPct val="250080"/>
              </a:lnSpc>
            </a:pPr>
            <a:r>
              <a:rPr lang="es" sz="1200" dirty="0">
                <a:solidFill>
                  <a:srgbClr val="FFFFFF"/>
                </a:solidFill>
                <a:ea typeface="Roboto"/>
                <a:sym typeface="Roboto"/>
              </a:rPr>
              <a:t>Implementación Recursiva </a:t>
            </a:r>
          </a:p>
          <a:p>
            <a:pPr>
              <a:lnSpc>
                <a:spcPct val="250080"/>
              </a:lnSpc>
            </a:pPr>
            <a:r>
              <a:rPr lang="es" sz="1200" dirty="0">
                <a:solidFill>
                  <a:srgbClr val="FFFFFF"/>
                </a:solidFill>
                <a:ea typeface="Roboto"/>
                <a:sym typeface="Roboto"/>
              </a:rPr>
              <a:t>Lógica de Búsqueda </a:t>
            </a:r>
          </a:p>
          <a:p>
            <a:pPr>
              <a:lnSpc>
                <a:spcPct val="250080"/>
              </a:lnSpc>
            </a:pPr>
            <a:r>
              <a:rPr lang="es" sz="1200" dirty="0">
                <a:solidFill>
                  <a:srgbClr val="FFFFFF"/>
                </a:solidFill>
                <a:ea typeface="Roboto"/>
                <a:sym typeface="Roboto"/>
              </a:rPr>
              <a:t>Resultados</a:t>
            </a:r>
            <a:endParaRPr lang="es" dirty="0"/>
          </a:p>
          <a:p>
            <a:pPr>
              <a:lnSpc>
                <a:spcPct val="250080"/>
              </a:lnSpc>
            </a:pPr>
            <a:r>
              <a:rPr lang="es" sz="1200" dirty="0">
                <a:solidFill>
                  <a:srgbClr val="FFFFFF"/>
                </a:solidFill>
                <a:ea typeface="Roboto"/>
              </a:rPr>
              <a:t>Conclusión</a:t>
            </a:r>
            <a:endParaRPr lang="es" dirty="0"/>
          </a:p>
        </p:txBody>
      </p:sp>
      <p:sp>
        <p:nvSpPr>
          <p:cNvPr id="78" name="Google Shape;78;p15"/>
          <p:cNvSpPr/>
          <p:nvPr/>
        </p:nvSpPr>
        <p:spPr>
          <a:xfrm>
            <a:off x="7892034" y="4670729"/>
            <a:ext cx="1151847" cy="372310"/>
          </a:xfrm>
          <a:custGeom>
            <a:avLst/>
            <a:gdLst/>
            <a:ahLst/>
            <a:cxnLst/>
            <a:rect l="l" t="t" r="r" b="b"/>
            <a:pathLst>
              <a:path w="1481475" h="529979" extrusionOk="0">
                <a:moveTo>
                  <a:pt x="0" y="0"/>
                </a:moveTo>
                <a:lnTo>
                  <a:pt x="1481475" y="0"/>
                </a:lnTo>
                <a:lnTo>
                  <a:pt x="1481475" y="529979"/>
                </a:lnTo>
                <a:lnTo>
                  <a:pt x="0" y="529979"/>
                </a:lnTo>
                <a:lnTo>
                  <a:pt x="0" y="0"/>
                </a:lnTo>
                <a:close/>
              </a:path>
            </a:pathLst>
          </a:custGeom>
          <a:blipFill rotWithShape="1">
            <a:blip r:embed="rId4">
              <a:alphaModFix/>
            </a:blip>
            <a:stretch>
              <a:fillRect l="-579" b="-25708"/>
            </a:stretch>
          </a:blipFill>
          <a:ln>
            <a:noFill/>
          </a:ln>
        </p:spPr>
        <p:txBody>
          <a:bodyPr/>
          <a:lstStyle/>
          <a:p>
            <a:endParaRPr lang="es-CL"/>
          </a:p>
        </p:txBody>
      </p:sp>
      <p:grpSp>
        <p:nvGrpSpPr>
          <p:cNvPr id="79" name="Google Shape;79;p15"/>
          <p:cNvGrpSpPr/>
          <p:nvPr/>
        </p:nvGrpSpPr>
        <p:grpSpPr>
          <a:xfrm>
            <a:off x="3950084" y="2186893"/>
            <a:ext cx="273588" cy="261396"/>
            <a:chOff x="0" y="0"/>
            <a:chExt cx="812800" cy="812800"/>
          </a:xfrm>
        </p:grpSpPr>
        <p:sp>
          <p:nvSpPr>
            <p:cNvPr id="80" name="Google Shape;80;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cmpd="sng">
              <a:solidFill>
                <a:srgbClr val="036479"/>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5"/>
            <p:cNvSpPr txBox="1"/>
            <p:nvPr/>
          </p:nvSpPr>
          <p:spPr>
            <a:xfrm>
              <a:off x="76200" y="76200"/>
              <a:ext cx="660300" cy="660300"/>
            </a:xfrm>
            <a:prstGeom prst="rect">
              <a:avLst/>
            </a:prstGeom>
            <a:noFill/>
            <a:ln>
              <a:noFill/>
            </a:ln>
          </p:spPr>
          <p:txBody>
            <a:bodyPr spcFirstLastPara="1" wrap="square" lIns="50800" tIns="50800" rIns="50800" bIns="50800" anchor="ctr" anchorCtr="0">
              <a:noAutofit/>
            </a:bodyPr>
            <a:lstStyle/>
            <a:p>
              <a:pPr marL="0" marR="0" lvl="0" indent="0" algn="ctr" rtl="0">
                <a:lnSpc>
                  <a:spcPct val="111444"/>
                </a:lnSpc>
                <a:spcBef>
                  <a:spcPts val="0"/>
                </a:spcBef>
                <a:spcAft>
                  <a:spcPts val="0"/>
                </a:spcAft>
                <a:buNone/>
              </a:pPr>
              <a:endParaRPr sz="1800" b="0" i="0" u="none" strike="noStrike" cap="none">
                <a:latin typeface="Calibri"/>
                <a:ea typeface="Calibri"/>
                <a:cs typeface="Calibri"/>
                <a:sym typeface="Calibri"/>
              </a:endParaRPr>
            </a:p>
          </p:txBody>
        </p:sp>
      </p:grpSp>
      <p:grpSp>
        <p:nvGrpSpPr>
          <p:cNvPr id="82" name="Google Shape;82;p15"/>
          <p:cNvGrpSpPr/>
          <p:nvPr/>
        </p:nvGrpSpPr>
        <p:grpSpPr>
          <a:xfrm>
            <a:off x="3950067" y="2669125"/>
            <a:ext cx="273588" cy="261396"/>
            <a:chOff x="0" y="0"/>
            <a:chExt cx="812800" cy="812800"/>
          </a:xfrm>
        </p:grpSpPr>
        <p:sp>
          <p:nvSpPr>
            <p:cNvPr id="83" name="Google Shape;83;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cmpd="sng">
              <a:solidFill>
                <a:srgbClr val="036479"/>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5"/>
            <p:cNvSpPr txBox="1"/>
            <p:nvPr/>
          </p:nvSpPr>
          <p:spPr>
            <a:xfrm>
              <a:off x="76200" y="76200"/>
              <a:ext cx="660300" cy="660300"/>
            </a:xfrm>
            <a:prstGeom prst="rect">
              <a:avLst/>
            </a:prstGeom>
            <a:noFill/>
            <a:ln>
              <a:noFill/>
            </a:ln>
          </p:spPr>
          <p:txBody>
            <a:bodyPr spcFirstLastPara="1" wrap="square" lIns="50800" tIns="50800" rIns="50800" bIns="50800" anchor="ctr" anchorCtr="0">
              <a:noAutofit/>
            </a:bodyPr>
            <a:lstStyle/>
            <a:p>
              <a:pPr marL="0" marR="0" lvl="0" indent="0" algn="ctr" rtl="0">
                <a:lnSpc>
                  <a:spcPct val="111444"/>
                </a:lnSpc>
                <a:spcBef>
                  <a:spcPts val="0"/>
                </a:spcBef>
                <a:spcAft>
                  <a:spcPts val="0"/>
                </a:spcAft>
                <a:buNone/>
              </a:pPr>
              <a:endParaRPr sz="1800" b="0" i="0" u="none" strike="noStrike" cap="none">
                <a:latin typeface="Calibri"/>
                <a:ea typeface="Calibri"/>
                <a:cs typeface="Calibri"/>
                <a:sym typeface="Calibri"/>
              </a:endParaRPr>
            </a:p>
          </p:txBody>
        </p:sp>
      </p:grpSp>
      <p:grpSp>
        <p:nvGrpSpPr>
          <p:cNvPr id="85" name="Google Shape;85;p15"/>
          <p:cNvGrpSpPr/>
          <p:nvPr/>
        </p:nvGrpSpPr>
        <p:grpSpPr>
          <a:xfrm>
            <a:off x="3950050" y="3151357"/>
            <a:ext cx="273588" cy="261396"/>
            <a:chOff x="0" y="0"/>
            <a:chExt cx="812800" cy="812800"/>
          </a:xfrm>
        </p:grpSpPr>
        <p:sp>
          <p:nvSpPr>
            <p:cNvPr id="86" name="Google Shape;86;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cmpd="sng">
              <a:solidFill>
                <a:srgbClr val="036479"/>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5"/>
            <p:cNvSpPr txBox="1"/>
            <p:nvPr/>
          </p:nvSpPr>
          <p:spPr>
            <a:xfrm>
              <a:off x="76200" y="76200"/>
              <a:ext cx="660300" cy="660300"/>
            </a:xfrm>
            <a:prstGeom prst="rect">
              <a:avLst/>
            </a:prstGeom>
            <a:noFill/>
            <a:ln>
              <a:noFill/>
            </a:ln>
          </p:spPr>
          <p:txBody>
            <a:bodyPr spcFirstLastPara="1" wrap="square" lIns="50800" tIns="50800" rIns="50800" bIns="50800" anchor="ctr" anchorCtr="0">
              <a:noAutofit/>
            </a:bodyPr>
            <a:lstStyle/>
            <a:p>
              <a:pPr marL="0" marR="0" lvl="0" indent="0" algn="ctr" rtl="0">
                <a:lnSpc>
                  <a:spcPct val="111444"/>
                </a:lnSpc>
                <a:spcBef>
                  <a:spcPts val="0"/>
                </a:spcBef>
                <a:spcAft>
                  <a:spcPts val="0"/>
                </a:spcAft>
                <a:buNone/>
              </a:pPr>
              <a:endParaRPr sz="1800" b="0" i="0" u="none" strike="noStrike" cap="none">
                <a:latin typeface="Calibri"/>
                <a:ea typeface="Calibri"/>
                <a:cs typeface="Calibri"/>
                <a:sym typeface="Calibri"/>
              </a:endParaRPr>
            </a:p>
          </p:txBody>
        </p:sp>
      </p:grpSp>
      <p:grpSp>
        <p:nvGrpSpPr>
          <p:cNvPr id="2" name="Google Shape;79;p15">
            <a:extLst>
              <a:ext uri="{FF2B5EF4-FFF2-40B4-BE49-F238E27FC236}">
                <a16:creationId xmlns:a16="http://schemas.microsoft.com/office/drawing/2014/main" id="{D346C02C-9F39-BB88-9F05-ACF47F5CE435}"/>
              </a:ext>
            </a:extLst>
          </p:cNvPr>
          <p:cNvGrpSpPr/>
          <p:nvPr/>
        </p:nvGrpSpPr>
        <p:grpSpPr>
          <a:xfrm>
            <a:off x="3926872" y="1721746"/>
            <a:ext cx="273588" cy="261396"/>
            <a:chOff x="0" y="0"/>
            <a:chExt cx="812800" cy="812800"/>
          </a:xfrm>
        </p:grpSpPr>
        <p:sp>
          <p:nvSpPr>
            <p:cNvPr id="3" name="Google Shape;80;p15">
              <a:extLst>
                <a:ext uri="{FF2B5EF4-FFF2-40B4-BE49-F238E27FC236}">
                  <a16:creationId xmlns:a16="http://schemas.microsoft.com/office/drawing/2014/main" id="{30EADDAB-53D9-AB27-3DFE-5D3D04EE72DF}"/>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cmpd="sng">
              <a:solidFill>
                <a:srgbClr val="036479"/>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81;p15">
              <a:extLst>
                <a:ext uri="{FF2B5EF4-FFF2-40B4-BE49-F238E27FC236}">
                  <a16:creationId xmlns:a16="http://schemas.microsoft.com/office/drawing/2014/main" id="{0971BAF7-B075-B601-229B-6AF309CF96B2}"/>
                </a:ext>
              </a:extLst>
            </p:cNvPr>
            <p:cNvSpPr txBox="1"/>
            <p:nvPr/>
          </p:nvSpPr>
          <p:spPr>
            <a:xfrm>
              <a:off x="76200" y="76200"/>
              <a:ext cx="660300" cy="660300"/>
            </a:xfrm>
            <a:prstGeom prst="rect">
              <a:avLst/>
            </a:prstGeom>
            <a:noFill/>
            <a:ln>
              <a:noFill/>
            </a:ln>
          </p:spPr>
          <p:txBody>
            <a:bodyPr spcFirstLastPara="1" wrap="square" lIns="50800" tIns="50800" rIns="50800" bIns="50800" anchor="ctr" anchorCtr="0">
              <a:noAutofit/>
            </a:bodyPr>
            <a:lstStyle/>
            <a:p>
              <a:pPr marL="0" marR="0" lvl="0" indent="0" algn="ctr" rtl="0">
                <a:lnSpc>
                  <a:spcPct val="111444"/>
                </a:lnSpc>
                <a:spcBef>
                  <a:spcPts val="0"/>
                </a:spcBef>
                <a:spcAft>
                  <a:spcPts val="0"/>
                </a:spcAft>
                <a:buNone/>
              </a:pPr>
              <a:endParaRPr sz="1800" b="0" i="0" u="none" strike="noStrike" cap="none">
                <a:latin typeface="Calibri"/>
                <a:ea typeface="Calibri"/>
                <a:cs typeface="Calibri"/>
                <a:sym typeface="Calibri"/>
              </a:endParaRPr>
            </a:p>
          </p:txBody>
        </p:sp>
      </p:grpSp>
      <p:grpSp>
        <p:nvGrpSpPr>
          <p:cNvPr id="5" name="Google Shape;85;p15">
            <a:extLst>
              <a:ext uri="{FF2B5EF4-FFF2-40B4-BE49-F238E27FC236}">
                <a16:creationId xmlns:a16="http://schemas.microsoft.com/office/drawing/2014/main" id="{77A64C8D-44AE-1BC8-D6EA-2EC6D9508AF7}"/>
              </a:ext>
            </a:extLst>
          </p:cNvPr>
          <p:cNvGrpSpPr/>
          <p:nvPr/>
        </p:nvGrpSpPr>
        <p:grpSpPr>
          <a:xfrm>
            <a:off x="3950017" y="3604870"/>
            <a:ext cx="273588" cy="261396"/>
            <a:chOff x="0" y="0"/>
            <a:chExt cx="812800" cy="812800"/>
          </a:xfrm>
        </p:grpSpPr>
        <p:sp>
          <p:nvSpPr>
            <p:cNvPr id="6" name="Google Shape;86;p15">
              <a:extLst>
                <a:ext uri="{FF2B5EF4-FFF2-40B4-BE49-F238E27FC236}">
                  <a16:creationId xmlns:a16="http://schemas.microsoft.com/office/drawing/2014/main" id="{9A1A86FC-C0E7-4F1D-E459-0F9D66380010}"/>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cmpd="sng">
              <a:solidFill>
                <a:srgbClr val="036479"/>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87;p15">
              <a:extLst>
                <a:ext uri="{FF2B5EF4-FFF2-40B4-BE49-F238E27FC236}">
                  <a16:creationId xmlns:a16="http://schemas.microsoft.com/office/drawing/2014/main" id="{FD0CDA87-7315-99EF-C1B2-1650D5503561}"/>
                </a:ext>
              </a:extLst>
            </p:cNvPr>
            <p:cNvSpPr txBox="1"/>
            <p:nvPr/>
          </p:nvSpPr>
          <p:spPr>
            <a:xfrm>
              <a:off x="76200" y="76200"/>
              <a:ext cx="660300" cy="660300"/>
            </a:xfrm>
            <a:prstGeom prst="rect">
              <a:avLst/>
            </a:prstGeom>
            <a:noFill/>
            <a:ln>
              <a:noFill/>
            </a:ln>
          </p:spPr>
          <p:txBody>
            <a:bodyPr spcFirstLastPara="1" wrap="square" lIns="50800" tIns="50800" rIns="50800" bIns="50800" anchor="ctr" anchorCtr="0">
              <a:noAutofit/>
            </a:bodyPr>
            <a:lstStyle/>
            <a:p>
              <a:pPr marL="0" marR="0" lvl="0" indent="0" algn="ctr" rtl="0">
                <a:lnSpc>
                  <a:spcPct val="111444"/>
                </a:lnSpc>
                <a:spcBef>
                  <a:spcPts val="0"/>
                </a:spcBef>
                <a:spcAft>
                  <a:spcPts val="0"/>
                </a:spcAft>
                <a:buNone/>
              </a:pPr>
              <a:endParaRPr sz="1800" b="0" i="0" u="none" strike="noStrike" cap="none">
                <a:latin typeface="Calibri"/>
                <a:ea typeface="Calibri"/>
                <a:cs typeface="Calibri"/>
                <a:sym typeface="Calibri"/>
              </a:endParaRPr>
            </a:p>
          </p:txBody>
        </p:sp>
      </p:grpSp>
      <p:grpSp>
        <p:nvGrpSpPr>
          <p:cNvPr id="8" name="Google Shape;85;p15">
            <a:extLst>
              <a:ext uri="{FF2B5EF4-FFF2-40B4-BE49-F238E27FC236}">
                <a16:creationId xmlns:a16="http://schemas.microsoft.com/office/drawing/2014/main" id="{9914E1B5-AA85-3BF5-962E-1017A6EC38B8}"/>
              </a:ext>
            </a:extLst>
          </p:cNvPr>
          <p:cNvGrpSpPr/>
          <p:nvPr/>
        </p:nvGrpSpPr>
        <p:grpSpPr>
          <a:xfrm>
            <a:off x="3950017" y="4067263"/>
            <a:ext cx="273588" cy="261396"/>
            <a:chOff x="0" y="0"/>
            <a:chExt cx="812800" cy="812800"/>
          </a:xfrm>
        </p:grpSpPr>
        <p:sp>
          <p:nvSpPr>
            <p:cNvPr id="9" name="Google Shape;86;p15">
              <a:extLst>
                <a:ext uri="{FF2B5EF4-FFF2-40B4-BE49-F238E27FC236}">
                  <a16:creationId xmlns:a16="http://schemas.microsoft.com/office/drawing/2014/main" id="{ABEC76C1-58E2-6666-D94D-C561F30B9A98}"/>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cmpd="sng">
              <a:solidFill>
                <a:srgbClr val="036479"/>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87;p15">
              <a:extLst>
                <a:ext uri="{FF2B5EF4-FFF2-40B4-BE49-F238E27FC236}">
                  <a16:creationId xmlns:a16="http://schemas.microsoft.com/office/drawing/2014/main" id="{1F6AED64-A6C0-2DFE-79A6-DD605AB09DA6}"/>
                </a:ext>
              </a:extLst>
            </p:cNvPr>
            <p:cNvSpPr txBox="1"/>
            <p:nvPr/>
          </p:nvSpPr>
          <p:spPr>
            <a:xfrm>
              <a:off x="76200" y="76200"/>
              <a:ext cx="660300" cy="660300"/>
            </a:xfrm>
            <a:prstGeom prst="rect">
              <a:avLst/>
            </a:prstGeom>
            <a:noFill/>
            <a:ln>
              <a:noFill/>
            </a:ln>
          </p:spPr>
          <p:txBody>
            <a:bodyPr spcFirstLastPara="1" wrap="square" lIns="50800" tIns="50800" rIns="50800" bIns="50800" anchor="ctr" anchorCtr="0">
              <a:noAutofit/>
            </a:bodyPr>
            <a:lstStyle/>
            <a:p>
              <a:pPr marL="0" marR="0" lvl="0" indent="0" algn="ctr" rtl="0">
                <a:lnSpc>
                  <a:spcPct val="111444"/>
                </a:lnSpc>
                <a:spcBef>
                  <a:spcPts val="0"/>
                </a:spcBef>
                <a:spcAft>
                  <a:spcPts val="0"/>
                </a:spcAft>
                <a:buNone/>
              </a:pPr>
              <a:endParaRPr sz="1800" b="0" i="0" u="none" strike="noStrike" cap="none">
                <a:latin typeface="Calibri"/>
                <a:ea typeface="Calibri"/>
                <a:cs typeface="Calibri"/>
                <a:sym typeface="Calibri"/>
              </a:endParaRPr>
            </a:p>
          </p:txBody>
        </p:sp>
      </p:grpSp>
      <p:grpSp>
        <p:nvGrpSpPr>
          <p:cNvPr id="11" name="Google Shape;85;p15">
            <a:extLst>
              <a:ext uri="{FF2B5EF4-FFF2-40B4-BE49-F238E27FC236}">
                <a16:creationId xmlns:a16="http://schemas.microsoft.com/office/drawing/2014/main" id="{446C15A3-B0D2-8641-7BA8-0A7CC57F0977}"/>
              </a:ext>
            </a:extLst>
          </p:cNvPr>
          <p:cNvGrpSpPr/>
          <p:nvPr/>
        </p:nvGrpSpPr>
        <p:grpSpPr>
          <a:xfrm>
            <a:off x="3954239" y="4529656"/>
            <a:ext cx="273588" cy="261396"/>
            <a:chOff x="0" y="0"/>
            <a:chExt cx="812800" cy="812800"/>
          </a:xfrm>
        </p:grpSpPr>
        <p:sp>
          <p:nvSpPr>
            <p:cNvPr id="12" name="Google Shape;86;p15">
              <a:extLst>
                <a:ext uri="{FF2B5EF4-FFF2-40B4-BE49-F238E27FC236}">
                  <a16:creationId xmlns:a16="http://schemas.microsoft.com/office/drawing/2014/main" id="{5EA666BA-42D5-3DE8-1597-55024F635C3B}"/>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cmpd="sng">
              <a:solidFill>
                <a:srgbClr val="036479"/>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87;p15">
              <a:extLst>
                <a:ext uri="{FF2B5EF4-FFF2-40B4-BE49-F238E27FC236}">
                  <a16:creationId xmlns:a16="http://schemas.microsoft.com/office/drawing/2014/main" id="{7F3621C1-5181-638B-AA24-5A03EDC17E98}"/>
                </a:ext>
              </a:extLst>
            </p:cNvPr>
            <p:cNvSpPr txBox="1"/>
            <p:nvPr/>
          </p:nvSpPr>
          <p:spPr>
            <a:xfrm>
              <a:off x="76200" y="76200"/>
              <a:ext cx="660301" cy="660300"/>
            </a:xfrm>
            <a:prstGeom prst="rect">
              <a:avLst/>
            </a:prstGeom>
            <a:noFill/>
            <a:ln>
              <a:noFill/>
            </a:ln>
          </p:spPr>
          <p:txBody>
            <a:bodyPr spcFirstLastPara="1" wrap="square" lIns="50800" tIns="50800" rIns="50800" bIns="50800" anchor="ctr" anchorCtr="0">
              <a:noAutofit/>
            </a:bodyPr>
            <a:lstStyle/>
            <a:p>
              <a:pPr marL="0" marR="0" lvl="0" indent="0" algn="ctr" rtl="0">
                <a:lnSpc>
                  <a:spcPct val="111444"/>
                </a:lnSpc>
                <a:spcBef>
                  <a:spcPts val="0"/>
                </a:spcBef>
                <a:spcAft>
                  <a:spcPts val="0"/>
                </a:spcAft>
                <a:buNone/>
              </a:pPr>
              <a:endParaRPr sz="1800" b="0" i="0" u="none" strike="noStrike" cap="none">
                <a:latin typeface="Calibri"/>
                <a:ea typeface="Calibri"/>
                <a:cs typeface="Calibri"/>
                <a:sym typeface="Calibri"/>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93B"/>
        </a:solidFill>
        <a:effectLst/>
      </p:bgPr>
    </p:bg>
    <p:spTree>
      <p:nvGrpSpPr>
        <p:cNvPr id="1" name="Shape 101"/>
        <p:cNvGrpSpPr/>
        <p:nvPr/>
      </p:nvGrpSpPr>
      <p:grpSpPr>
        <a:xfrm>
          <a:off x="0" y="0"/>
          <a:ext cx="0" cy="0"/>
          <a:chOff x="0" y="0"/>
          <a:chExt cx="0" cy="0"/>
        </a:xfrm>
      </p:grpSpPr>
      <p:pic>
        <p:nvPicPr>
          <p:cNvPr id="102" name="Google Shape;102;p16"/>
          <p:cNvPicPr preferRelativeResize="0"/>
          <p:nvPr/>
        </p:nvPicPr>
        <p:blipFill>
          <a:blip r:embed="rId3">
            <a:alphaModFix amt="55000"/>
          </a:blip>
          <a:stretch>
            <a:fillRect/>
          </a:stretch>
        </p:blipFill>
        <p:spPr>
          <a:xfrm>
            <a:off x="8" y="13"/>
            <a:ext cx="9144003" cy="5143484"/>
          </a:xfrm>
          <a:prstGeom prst="rect">
            <a:avLst/>
          </a:prstGeom>
          <a:noFill/>
          <a:ln>
            <a:noFill/>
          </a:ln>
        </p:spPr>
      </p:pic>
      <p:sp>
        <p:nvSpPr>
          <p:cNvPr id="103" name="Google Shape;103;p16"/>
          <p:cNvSpPr txBox="1"/>
          <p:nvPr/>
        </p:nvSpPr>
        <p:spPr>
          <a:xfrm>
            <a:off x="2104795" y="2008496"/>
            <a:ext cx="4934400" cy="549600"/>
          </a:xfrm>
          <a:prstGeom prst="rect">
            <a:avLst/>
          </a:prstGeom>
          <a:noFill/>
          <a:ln>
            <a:noFill/>
          </a:ln>
        </p:spPr>
        <p:txBody>
          <a:bodyPr spcFirstLastPara="1" wrap="square" lIns="0" tIns="0" rIns="0" bIns="0" anchor="t" anchorCtr="0">
            <a:spAutoFit/>
          </a:bodyPr>
          <a:lstStyle/>
          <a:p>
            <a:pPr marL="0" marR="0" lvl="0" indent="0" algn="ctr" rtl="0">
              <a:lnSpc>
                <a:spcPct val="104983"/>
              </a:lnSpc>
              <a:spcBef>
                <a:spcPts val="0"/>
              </a:spcBef>
              <a:spcAft>
                <a:spcPts val="0"/>
              </a:spcAft>
              <a:buNone/>
            </a:pPr>
            <a:r>
              <a:rPr lang="es" sz="3570">
                <a:solidFill>
                  <a:srgbClr val="FFFFFF"/>
                </a:solidFill>
                <a:latin typeface="Montserrat ExtraBold"/>
                <a:ea typeface="Montserrat ExtraBold"/>
                <a:cs typeface="Montserrat ExtraBold"/>
                <a:sym typeface="Montserrat ExtraBold"/>
              </a:rPr>
              <a:t>Introducción</a:t>
            </a:r>
            <a:endParaRPr sz="3570" i="0" u="none" strike="noStrike" cap="none">
              <a:solidFill>
                <a:srgbClr val="FFFFFF"/>
              </a:solidFill>
              <a:latin typeface="Montserrat ExtraBold"/>
              <a:ea typeface="Montserrat ExtraBold"/>
              <a:cs typeface="Montserrat ExtraBold"/>
              <a:sym typeface="Montserrat ExtraBold"/>
            </a:endParaRPr>
          </a:p>
        </p:txBody>
      </p:sp>
      <p:sp>
        <p:nvSpPr>
          <p:cNvPr id="104" name="Google Shape;104;p16"/>
          <p:cNvSpPr/>
          <p:nvPr/>
        </p:nvSpPr>
        <p:spPr>
          <a:xfrm>
            <a:off x="7892034" y="4670729"/>
            <a:ext cx="1151847" cy="372310"/>
          </a:xfrm>
          <a:custGeom>
            <a:avLst/>
            <a:gdLst/>
            <a:ahLst/>
            <a:cxnLst/>
            <a:rect l="l" t="t" r="r" b="b"/>
            <a:pathLst>
              <a:path w="1481475" h="529979" extrusionOk="0">
                <a:moveTo>
                  <a:pt x="0" y="0"/>
                </a:moveTo>
                <a:lnTo>
                  <a:pt x="1481475" y="0"/>
                </a:lnTo>
                <a:lnTo>
                  <a:pt x="1481475" y="529979"/>
                </a:lnTo>
                <a:lnTo>
                  <a:pt x="0" y="529979"/>
                </a:lnTo>
                <a:lnTo>
                  <a:pt x="0" y="0"/>
                </a:lnTo>
                <a:close/>
              </a:path>
            </a:pathLst>
          </a:custGeom>
          <a:blipFill rotWithShape="1">
            <a:blip r:embed="rId4">
              <a:alphaModFix/>
            </a:blip>
            <a:stretch>
              <a:fillRect l="-579" b="-25708"/>
            </a:stretch>
          </a:blipFill>
          <a:ln>
            <a:noFill/>
          </a:ln>
        </p:spPr>
        <p:txBody>
          <a:bodyPr/>
          <a:lstStyle/>
          <a:p>
            <a:endParaRPr lang="es-CL"/>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93B"/>
        </a:solidFill>
        <a:effectLst/>
      </p:bgPr>
    </p:bg>
    <p:spTree>
      <p:nvGrpSpPr>
        <p:cNvPr id="1" name="Shape 108">
          <a:extLst>
            <a:ext uri="{FF2B5EF4-FFF2-40B4-BE49-F238E27FC236}">
              <a16:creationId xmlns:a16="http://schemas.microsoft.com/office/drawing/2014/main" id="{8EA7911C-1D50-19B2-A90B-B19096C0FA64}"/>
            </a:ext>
          </a:extLst>
        </p:cNvPr>
        <p:cNvGrpSpPr/>
        <p:nvPr/>
      </p:nvGrpSpPr>
      <p:grpSpPr>
        <a:xfrm>
          <a:off x="0" y="0"/>
          <a:ext cx="0" cy="0"/>
          <a:chOff x="0" y="0"/>
          <a:chExt cx="0" cy="0"/>
        </a:xfrm>
      </p:grpSpPr>
      <p:sp>
        <p:nvSpPr>
          <p:cNvPr id="110" name="Google Shape;110;p17">
            <a:extLst>
              <a:ext uri="{FF2B5EF4-FFF2-40B4-BE49-F238E27FC236}">
                <a16:creationId xmlns:a16="http://schemas.microsoft.com/office/drawing/2014/main" id="{3579C04C-6A77-4228-D52A-29B6C9AC1786}"/>
              </a:ext>
            </a:extLst>
          </p:cNvPr>
          <p:cNvSpPr txBox="1"/>
          <p:nvPr/>
        </p:nvSpPr>
        <p:spPr>
          <a:xfrm>
            <a:off x="784297" y="1669151"/>
            <a:ext cx="7297190" cy="2000548"/>
          </a:xfrm>
          <a:prstGeom prst="rect">
            <a:avLst/>
          </a:prstGeom>
          <a:noFill/>
          <a:ln>
            <a:noFill/>
          </a:ln>
        </p:spPr>
        <p:txBody>
          <a:bodyPr spcFirstLastPara="1" wrap="square" lIns="0" tIns="0" rIns="0" bIns="0" anchor="t" anchorCtr="0">
            <a:spAutoFit/>
          </a:bodyPr>
          <a:lstStyle/>
          <a:p>
            <a:r>
              <a:rPr lang="es-MX" sz="1300" dirty="0">
                <a:solidFill>
                  <a:srgbClr val="FFFFFF"/>
                </a:solidFill>
                <a:ea typeface="Roboto"/>
                <a:sym typeface="Roboto"/>
              </a:rPr>
              <a:t>    El objetivo principal es resolver el problema de la recuperación de información eficiente. En lugar de recorrer todos los textos secuencialmente para cada búsqueda (lo cual sería ineficiente), se </a:t>
            </a:r>
            <a:r>
              <a:rPr lang="es-MX" sz="1300" dirty="0" err="1">
                <a:solidFill>
                  <a:srgbClr val="FFFFFF"/>
                </a:solidFill>
                <a:ea typeface="Roboto"/>
                <a:sym typeface="Roboto"/>
              </a:rPr>
              <a:t>pre-procesa</a:t>
            </a:r>
            <a:r>
              <a:rPr lang="es-MX" sz="1300" dirty="0">
                <a:solidFill>
                  <a:srgbClr val="FFFFFF"/>
                </a:solidFill>
                <a:ea typeface="Roboto"/>
                <a:sym typeface="Roboto"/>
              </a:rPr>
              <a:t> la información en un Índice Invertido. </a:t>
            </a:r>
          </a:p>
          <a:p>
            <a:r>
              <a:rPr lang="es-MX" sz="1300" dirty="0">
                <a:solidFill>
                  <a:srgbClr val="FFFFFF"/>
                </a:solidFill>
                <a:ea typeface="Roboto"/>
                <a:sym typeface="Roboto"/>
              </a:rPr>
              <a:t>Conceptos Clave:</a:t>
            </a:r>
          </a:p>
          <a:p>
            <a:r>
              <a:rPr lang="es-MX" sz="1300" dirty="0">
                <a:solidFill>
                  <a:srgbClr val="FFFFFF"/>
                </a:solidFill>
                <a:ea typeface="Roboto"/>
                <a:sym typeface="Roboto"/>
              </a:rPr>
              <a:t>-Vocabulario (V): Conjunto de palabras únicas presentes en el corpus.</a:t>
            </a:r>
          </a:p>
          <a:p>
            <a:r>
              <a:rPr lang="es-MX" sz="1300" dirty="0">
                <a:solidFill>
                  <a:srgbClr val="FFFFFF"/>
                </a:solidFill>
                <a:ea typeface="Roboto"/>
                <a:sym typeface="Roboto"/>
              </a:rPr>
              <a:t>-</a:t>
            </a:r>
            <a:r>
              <a:rPr lang="es-MX" sz="1300" dirty="0" err="1">
                <a:solidFill>
                  <a:srgbClr val="FFFFFF"/>
                </a:solidFill>
                <a:ea typeface="Roboto"/>
                <a:sym typeface="Roboto"/>
              </a:rPr>
              <a:t>Posting</a:t>
            </a:r>
            <a:r>
              <a:rPr lang="es-MX" sz="1300" dirty="0">
                <a:solidFill>
                  <a:srgbClr val="FFFFFF"/>
                </a:solidFill>
                <a:ea typeface="Roboto"/>
                <a:sym typeface="Roboto"/>
              </a:rPr>
              <a:t> </a:t>
            </a:r>
            <a:r>
              <a:rPr lang="es-MX" sz="1300" dirty="0" err="1">
                <a:solidFill>
                  <a:srgbClr val="FFFFFF"/>
                </a:solidFill>
                <a:ea typeface="Roboto"/>
                <a:sym typeface="Roboto"/>
              </a:rPr>
              <a:t>List</a:t>
            </a:r>
            <a:r>
              <a:rPr lang="es-MX" sz="1300" dirty="0">
                <a:solidFill>
                  <a:srgbClr val="FFFFFF"/>
                </a:solidFill>
                <a:ea typeface="Roboto"/>
                <a:sym typeface="Roboto"/>
              </a:rPr>
              <a:t>: Lista de identificadores de documentos asociados a una palabra.</a:t>
            </a:r>
          </a:p>
          <a:p>
            <a:r>
              <a:rPr lang="es-MX" sz="1300" dirty="0">
                <a:solidFill>
                  <a:srgbClr val="FFFFFF"/>
                </a:solidFill>
                <a:ea typeface="Roboto"/>
                <a:sym typeface="Roboto"/>
              </a:rPr>
              <a:t>-</a:t>
            </a:r>
            <a:r>
              <a:rPr lang="es-MX" sz="1300" dirty="0" err="1">
                <a:solidFill>
                  <a:srgbClr val="FFFFFF"/>
                </a:solidFill>
                <a:ea typeface="Roboto"/>
                <a:sym typeface="Roboto"/>
              </a:rPr>
              <a:t>Stopwords</a:t>
            </a:r>
            <a:r>
              <a:rPr lang="es-MX" sz="1300" dirty="0">
                <a:solidFill>
                  <a:srgbClr val="FFFFFF"/>
                </a:solidFill>
                <a:ea typeface="Roboto"/>
                <a:sym typeface="Roboto"/>
              </a:rPr>
              <a:t>: Palabras como "el", "la", "y", que deben ser eliminadas para optimizar el almacenamiento y la relevancia.</a:t>
            </a:r>
          </a:p>
          <a:p>
            <a:r>
              <a:rPr lang="es-MX" sz="1300" dirty="0">
                <a:solidFill>
                  <a:srgbClr val="FFFFFF"/>
                </a:solidFill>
                <a:ea typeface="Roboto"/>
                <a:sym typeface="Roboto"/>
              </a:rPr>
              <a:t>    La solución propuesta automatiza el flujo de trabajo (Pipeline) desde la lectura de datos crudos hasta la consulta del usuario final.</a:t>
            </a:r>
            <a:endParaRPr lang="es" sz="1300" dirty="0">
              <a:solidFill>
                <a:srgbClr val="FFFFFF"/>
              </a:solidFill>
              <a:ea typeface="Roboto"/>
            </a:endParaRPr>
          </a:p>
        </p:txBody>
      </p:sp>
      <p:sp>
        <p:nvSpPr>
          <p:cNvPr id="111" name="Google Shape;111;p17">
            <a:extLst>
              <a:ext uri="{FF2B5EF4-FFF2-40B4-BE49-F238E27FC236}">
                <a16:creationId xmlns:a16="http://schemas.microsoft.com/office/drawing/2014/main" id="{DD5262FC-B0C0-378E-F840-189E7BAB2989}"/>
              </a:ext>
            </a:extLst>
          </p:cNvPr>
          <p:cNvSpPr txBox="1"/>
          <p:nvPr/>
        </p:nvSpPr>
        <p:spPr>
          <a:xfrm>
            <a:off x="783724" y="933146"/>
            <a:ext cx="3656931" cy="969881"/>
          </a:xfrm>
          <a:prstGeom prst="rect">
            <a:avLst/>
          </a:prstGeom>
          <a:noFill/>
          <a:ln>
            <a:noFill/>
          </a:ln>
        </p:spPr>
        <p:txBody>
          <a:bodyPr spcFirstLastPara="1" wrap="square" lIns="0" tIns="0" rIns="0" bIns="0" anchor="t" anchorCtr="0">
            <a:spAutoFit/>
          </a:bodyPr>
          <a:lstStyle/>
          <a:p>
            <a:r>
              <a:rPr lang="es" sz="3100" dirty="0">
                <a:solidFill>
                  <a:srgbClr val="FFFFFF"/>
                </a:solidFill>
                <a:latin typeface="Montserrat ExtraBold"/>
                <a:ea typeface="Montserrat ExtraBold"/>
                <a:cs typeface="Montserrat ExtraBold"/>
              </a:rPr>
              <a:t>Introducción</a:t>
            </a:r>
            <a:endParaRPr lang="es" sz="3100" dirty="0">
              <a:latin typeface="Montserrat ExtraBold"/>
              <a:ea typeface="Montserrat ExtraBold"/>
              <a:cs typeface="Montserrat ExtraBold"/>
            </a:endParaRPr>
          </a:p>
          <a:p>
            <a:pPr>
              <a:lnSpc>
                <a:spcPct val="104983"/>
              </a:lnSpc>
            </a:pPr>
            <a:endParaRPr lang="es" sz="3050" i="0" u="none" strike="noStrike" cap="none" dirty="0">
              <a:solidFill>
                <a:srgbClr val="FFFFFF"/>
              </a:solidFill>
              <a:latin typeface="Montserrat ExtraBold"/>
              <a:ea typeface="Montserrat ExtraBold"/>
              <a:cs typeface="Montserrat ExtraBold"/>
            </a:endParaRPr>
          </a:p>
        </p:txBody>
      </p:sp>
      <p:sp>
        <p:nvSpPr>
          <p:cNvPr id="112" name="Google Shape;112;p17">
            <a:extLst>
              <a:ext uri="{FF2B5EF4-FFF2-40B4-BE49-F238E27FC236}">
                <a16:creationId xmlns:a16="http://schemas.microsoft.com/office/drawing/2014/main" id="{8CD82A9D-DBD6-F90A-9FAC-9F9AA2B6EE84}"/>
              </a:ext>
            </a:extLst>
          </p:cNvPr>
          <p:cNvSpPr/>
          <p:nvPr/>
        </p:nvSpPr>
        <p:spPr>
          <a:xfrm>
            <a:off x="7892034" y="4670729"/>
            <a:ext cx="1151847" cy="372310"/>
          </a:xfrm>
          <a:custGeom>
            <a:avLst/>
            <a:gdLst/>
            <a:ahLst/>
            <a:cxnLst/>
            <a:rect l="l" t="t" r="r" b="b"/>
            <a:pathLst>
              <a:path w="1481475" h="529979" extrusionOk="0">
                <a:moveTo>
                  <a:pt x="0" y="0"/>
                </a:moveTo>
                <a:lnTo>
                  <a:pt x="1481475" y="0"/>
                </a:lnTo>
                <a:lnTo>
                  <a:pt x="1481475" y="529979"/>
                </a:lnTo>
                <a:lnTo>
                  <a:pt x="0" y="529979"/>
                </a:lnTo>
                <a:lnTo>
                  <a:pt x="0" y="0"/>
                </a:lnTo>
                <a:close/>
              </a:path>
            </a:pathLst>
          </a:custGeom>
          <a:blipFill rotWithShape="1">
            <a:blip r:embed="rId3">
              <a:alphaModFix/>
            </a:blip>
            <a:stretch>
              <a:fillRect l="-579" b="-25708"/>
            </a:stretch>
          </a:blipFill>
          <a:ln>
            <a:noFill/>
          </a:ln>
        </p:spPr>
        <p:txBody>
          <a:bodyPr/>
          <a:lstStyle/>
          <a:p>
            <a:endParaRPr lang="es-CL"/>
          </a:p>
        </p:txBody>
      </p:sp>
    </p:spTree>
    <p:extLst>
      <p:ext uri="{BB962C8B-B14F-4D97-AF65-F5344CB8AC3E}">
        <p14:creationId xmlns:p14="http://schemas.microsoft.com/office/powerpoint/2010/main" val="1607468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93B"/>
        </a:solidFill>
        <a:effectLst/>
      </p:bgPr>
    </p:bg>
    <p:spTree>
      <p:nvGrpSpPr>
        <p:cNvPr id="1" name="Shape 116"/>
        <p:cNvGrpSpPr/>
        <p:nvPr/>
      </p:nvGrpSpPr>
      <p:grpSpPr>
        <a:xfrm>
          <a:off x="0" y="0"/>
          <a:ext cx="0" cy="0"/>
          <a:chOff x="0" y="0"/>
          <a:chExt cx="0" cy="0"/>
        </a:xfrm>
      </p:grpSpPr>
      <p:pic>
        <p:nvPicPr>
          <p:cNvPr id="117" name="Google Shape;117;p18"/>
          <p:cNvPicPr preferRelativeResize="0"/>
          <p:nvPr/>
        </p:nvPicPr>
        <p:blipFill>
          <a:blip r:embed="rId3">
            <a:alphaModFix amt="55000"/>
          </a:blip>
          <a:stretch>
            <a:fillRect/>
          </a:stretch>
        </p:blipFill>
        <p:spPr>
          <a:xfrm>
            <a:off x="8" y="13"/>
            <a:ext cx="9144003" cy="5143484"/>
          </a:xfrm>
          <a:prstGeom prst="rect">
            <a:avLst/>
          </a:prstGeom>
          <a:noFill/>
          <a:ln>
            <a:noFill/>
          </a:ln>
        </p:spPr>
      </p:pic>
      <p:sp>
        <p:nvSpPr>
          <p:cNvPr id="118" name="Google Shape;118;p18"/>
          <p:cNvSpPr txBox="1"/>
          <p:nvPr/>
        </p:nvSpPr>
        <p:spPr>
          <a:xfrm>
            <a:off x="2104795" y="2008496"/>
            <a:ext cx="4934400" cy="573619"/>
          </a:xfrm>
          <a:prstGeom prst="rect">
            <a:avLst/>
          </a:prstGeom>
          <a:noFill/>
          <a:ln>
            <a:noFill/>
          </a:ln>
        </p:spPr>
        <p:txBody>
          <a:bodyPr spcFirstLastPara="1" wrap="square" lIns="0" tIns="0" rIns="0" bIns="0" anchor="t" anchorCtr="0">
            <a:spAutoFit/>
          </a:bodyPr>
          <a:lstStyle/>
          <a:p>
            <a:pPr algn="ctr">
              <a:lnSpc>
                <a:spcPct val="104983"/>
              </a:lnSpc>
            </a:pPr>
            <a:r>
              <a:rPr lang="es" sz="3550" dirty="0">
                <a:solidFill>
                  <a:srgbClr val="FFFFFF"/>
                </a:solidFill>
                <a:latin typeface="Montserrat ExtraBold"/>
                <a:sym typeface="Montserrat ExtraBold"/>
              </a:rPr>
              <a:t>Bases y Supuestos</a:t>
            </a:r>
            <a:endParaRPr lang="es-ES" dirty="0"/>
          </a:p>
        </p:txBody>
      </p:sp>
      <p:sp>
        <p:nvSpPr>
          <p:cNvPr id="119" name="Google Shape;119;p18"/>
          <p:cNvSpPr/>
          <p:nvPr/>
        </p:nvSpPr>
        <p:spPr>
          <a:xfrm>
            <a:off x="7892034" y="4670729"/>
            <a:ext cx="1151847" cy="372310"/>
          </a:xfrm>
          <a:custGeom>
            <a:avLst/>
            <a:gdLst/>
            <a:ahLst/>
            <a:cxnLst/>
            <a:rect l="l" t="t" r="r" b="b"/>
            <a:pathLst>
              <a:path w="1481475" h="529979" extrusionOk="0">
                <a:moveTo>
                  <a:pt x="0" y="0"/>
                </a:moveTo>
                <a:lnTo>
                  <a:pt x="1481475" y="0"/>
                </a:lnTo>
                <a:lnTo>
                  <a:pt x="1481475" y="529979"/>
                </a:lnTo>
                <a:lnTo>
                  <a:pt x="0" y="529979"/>
                </a:lnTo>
                <a:lnTo>
                  <a:pt x="0" y="0"/>
                </a:lnTo>
                <a:close/>
              </a:path>
            </a:pathLst>
          </a:custGeom>
          <a:blipFill rotWithShape="1">
            <a:blip r:embed="rId4">
              <a:alphaModFix/>
            </a:blip>
            <a:stretch>
              <a:fillRect l="-579" b="-25708"/>
            </a:stretch>
          </a:blipFill>
          <a:ln>
            <a:noFill/>
          </a:ln>
        </p:spPr>
        <p:txBody>
          <a:bodyPr/>
          <a:lstStyle/>
          <a:p>
            <a:endParaRPr lang="es-CL"/>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93B"/>
        </a:solidFill>
        <a:effectLst/>
      </p:bgPr>
    </p:bg>
    <p:spTree>
      <p:nvGrpSpPr>
        <p:cNvPr id="1" name="Shape 131">
          <a:extLst>
            <a:ext uri="{FF2B5EF4-FFF2-40B4-BE49-F238E27FC236}">
              <a16:creationId xmlns:a16="http://schemas.microsoft.com/office/drawing/2014/main" id="{9316F94A-A8DE-800F-1770-BA336990043E}"/>
            </a:ext>
          </a:extLst>
        </p:cNvPr>
        <p:cNvGrpSpPr/>
        <p:nvPr/>
      </p:nvGrpSpPr>
      <p:grpSpPr>
        <a:xfrm>
          <a:off x="0" y="0"/>
          <a:ext cx="0" cy="0"/>
          <a:chOff x="0" y="0"/>
          <a:chExt cx="0" cy="0"/>
        </a:xfrm>
      </p:grpSpPr>
      <p:sp>
        <p:nvSpPr>
          <p:cNvPr id="133" name="Google Shape;133;p20">
            <a:extLst>
              <a:ext uri="{FF2B5EF4-FFF2-40B4-BE49-F238E27FC236}">
                <a16:creationId xmlns:a16="http://schemas.microsoft.com/office/drawing/2014/main" id="{8CA37967-0974-38AA-35F2-EED46980C783}"/>
              </a:ext>
            </a:extLst>
          </p:cNvPr>
          <p:cNvSpPr txBox="1"/>
          <p:nvPr/>
        </p:nvSpPr>
        <p:spPr>
          <a:xfrm>
            <a:off x="483251" y="1282937"/>
            <a:ext cx="8385685" cy="1600438"/>
          </a:xfrm>
          <a:prstGeom prst="rect">
            <a:avLst/>
          </a:prstGeom>
          <a:noFill/>
          <a:ln>
            <a:noFill/>
          </a:ln>
        </p:spPr>
        <p:txBody>
          <a:bodyPr spcFirstLastPara="1" wrap="square" lIns="0" tIns="0" rIns="0" bIns="0" anchor="t" anchorCtr="0">
            <a:spAutoFit/>
          </a:bodyPr>
          <a:lstStyle/>
          <a:p>
            <a:r>
              <a:rPr lang="es-MX" sz="1300" dirty="0">
                <a:solidFill>
                  <a:schemeClr val="bg1"/>
                </a:solidFill>
                <a:ea typeface="Roboto"/>
                <a:sym typeface="Roboto"/>
              </a:rPr>
              <a:t>-Inicialización (Patrón BEGIN): Se utiliza el bloque BEGIN para definir variables antes de procesar la primera línea del archivo, garantizando la configuración global del entorno. </a:t>
            </a:r>
          </a:p>
          <a:p>
            <a:endParaRPr lang="es-MX" sz="1300" dirty="0">
              <a:solidFill>
                <a:schemeClr val="bg1"/>
              </a:solidFill>
              <a:ea typeface="Roboto"/>
              <a:sym typeface="Roboto"/>
            </a:endParaRPr>
          </a:p>
          <a:p>
            <a:r>
              <a:rPr lang="es-MX" sz="1300" dirty="0">
                <a:solidFill>
                  <a:schemeClr val="bg1"/>
                </a:solidFill>
                <a:ea typeface="Roboto"/>
                <a:sym typeface="Roboto"/>
              </a:rPr>
              <a:t>-Separador de Entrada (FS): Se define la variable incorporada FS (Field </a:t>
            </a:r>
            <a:r>
              <a:rPr lang="es-MX" sz="1300" dirty="0" err="1">
                <a:solidFill>
                  <a:schemeClr val="bg1"/>
                </a:solidFill>
                <a:ea typeface="Roboto"/>
                <a:sym typeface="Roboto"/>
              </a:rPr>
              <a:t>Separator</a:t>
            </a:r>
            <a:r>
              <a:rPr lang="es-MX" sz="1300" dirty="0">
                <a:solidFill>
                  <a:schemeClr val="bg1"/>
                </a:solidFill>
                <a:ea typeface="Roboto"/>
                <a:sym typeface="Roboto"/>
              </a:rPr>
              <a:t>) como coma (,), ya que el </a:t>
            </a:r>
            <a:r>
              <a:rPr lang="es-MX" sz="1300" dirty="0" err="1">
                <a:solidFill>
                  <a:schemeClr val="bg1"/>
                </a:solidFill>
                <a:ea typeface="Roboto"/>
                <a:sym typeface="Roboto"/>
              </a:rPr>
              <a:t>dataset</a:t>
            </a:r>
            <a:r>
              <a:rPr lang="es-MX" sz="1300" dirty="0">
                <a:solidFill>
                  <a:schemeClr val="bg1"/>
                </a:solidFill>
                <a:ea typeface="Roboto"/>
                <a:sym typeface="Roboto"/>
              </a:rPr>
              <a:t> de entrada es un archivo CSV estándar. </a:t>
            </a:r>
          </a:p>
          <a:p>
            <a:endParaRPr lang="es-MX" sz="1300" dirty="0">
              <a:solidFill>
                <a:schemeClr val="bg1"/>
              </a:solidFill>
              <a:ea typeface="Roboto"/>
              <a:sym typeface="Roboto"/>
            </a:endParaRPr>
          </a:p>
          <a:p>
            <a:r>
              <a:rPr lang="es-MX" sz="1300" dirty="0">
                <a:solidFill>
                  <a:schemeClr val="bg1"/>
                </a:solidFill>
                <a:ea typeface="Roboto"/>
                <a:sym typeface="Roboto"/>
              </a:rPr>
              <a:t>-Separador de Salida (OFS): Se establece la variable OFS (Output Field </a:t>
            </a:r>
            <a:r>
              <a:rPr lang="es-MX" sz="1300" dirty="0" err="1">
                <a:solidFill>
                  <a:schemeClr val="bg1"/>
                </a:solidFill>
                <a:ea typeface="Roboto"/>
                <a:sym typeface="Roboto"/>
              </a:rPr>
              <a:t>Separator</a:t>
            </a:r>
            <a:r>
              <a:rPr lang="es-MX" sz="1300" dirty="0">
                <a:solidFill>
                  <a:schemeClr val="bg1"/>
                </a:solidFill>
                <a:ea typeface="Roboto"/>
                <a:sym typeface="Roboto"/>
              </a:rPr>
              <a:t>) como una barra vertical (|). Esto facilita el procesamiento posterior en Python, evitando conflictos con comas dentro del texto.</a:t>
            </a:r>
            <a:endParaRPr lang="es" sz="1338" dirty="0">
              <a:solidFill>
                <a:schemeClr val="bg1"/>
              </a:solidFill>
              <a:latin typeface="Roboto"/>
              <a:ea typeface="Roboto"/>
              <a:cs typeface="Roboto"/>
            </a:endParaRPr>
          </a:p>
        </p:txBody>
      </p:sp>
      <p:sp>
        <p:nvSpPr>
          <p:cNvPr id="134" name="Google Shape;134;p20">
            <a:extLst>
              <a:ext uri="{FF2B5EF4-FFF2-40B4-BE49-F238E27FC236}">
                <a16:creationId xmlns:a16="http://schemas.microsoft.com/office/drawing/2014/main" id="{46CDD363-E86D-CF55-59B6-BE2BDF7E0F0F}"/>
              </a:ext>
            </a:extLst>
          </p:cNvPr>
          <p:cNvSpPr txBox="1"/>
          <p:nvPr/>
        </p:nvSpPr>
        <p:spPr>
          <a:xfrm>
            <a:off x="783602" y="317684"/>
            <a:ext cx="6677188" cy="969881"/>
          </a:xfrm>
          <a:prstGeom prst="rect">
            <a:avLst/>
          </a:prstGeom>
          <a:noFill/>
          <a:ln>
            <a:noFill/>
          </a:ln>
        </p:spPr>
        <p:txBody>
          <a:bodyPr spcFirstLastPara="1" wrap="square" lIns="0" tIns="0" rIns="0" bIns="0" anchor="t" anchorCtr="0">
            <a:spAutoFit/>
          </a:bodyPr>
          <a:lstStyle/>
          <a:p>
            <a:r>
              <a:rPr lang="es" sz="3100" dirty="0">
                <a:solidFill>
                  <a:srgbClr val="FFFFFF"/>
                </a:solidFill>
                <a:latin typeface="Montserrat ExtraBold"/>
                <a:sym typeface="Montserrat ExtraBold"/>
              </a:rPr>
              <a:t>Bases y Supuestos</a:t>
            </a:r>
            <a:endParaRPr lang="es" sz="3100" i="0" u="none" strike="noStrike" cap="none" dirty="0">
              <a:solidFill>
                <a:srgbClr val="FFFFFF"/>
              </a:solidFill>
              <a:ea typeface="Montserrat ExtraBold"/>
            </a:endParaRPr>
          </a:p>
          <a:p>
            <a:pPr>
              <a:lnSpc>
                <a:spcPct val="104983"/>
              </a:lnSpc>
            </a:pPr>
            <a:endParaRPr lang="es" sz="3050" dirty="0">
              <a:solidFill>
                <a:srgbClr val="FFFFFF"/>
              </a:solidFill>
              <a:latin typeface="Montserrat ExtraBold"/>
              <a:ea typeface="Montserrat ExtraBold"/>
              <a:cs typeface="Montserrat ExtraBold"/>
            </a:endParaRPr>
          </a:p>
        </p:txBody>
      </p:sp>
      <p:sp>
        <p:nvSpPr>
          <p:cNvPr id="135" name="Google Shape;135;p20">
            <a:extLst>
              <a:ext uri="{FF2B5EF4-FFF2-40B4-BE49-F238E27FC236}">
                <a16:creationId xmlns:a16="http://schemas.microsoft.com/office/drawing/2014/main" id="{8AAF40A1-62C9-DC07-3A61-C517B1D462CE}"/>
              </a:ext>
            </a:extLst>
          </p:cNvPr>
          <p:cNvSpPr/>
          <p:nvPr/>
        </p:nvSpPr>
        <p:spPr>
          <a:xfrm>
            <a:off x="7892034" y="4670729"/>
            <a:ext cx="1151847" cy="372310"/>
          </a:xfrm>
          <a:custGeom>
            <a:avLst/>
            <a:gdLst/>
            <a:ahLst/>
            <a:cxnLst/>
            <a:rect l="l" t="t" r="r" b="b"/>
            <a:pathLst>
              <a:path w="1481475" h="529979" extrusionOk="0">
                <a:moveTo>
                  <a:pt x="0" y="0"/>
                </a:moveTo>
                <a:lnTo>
                  <a:pt x="1481475" y="0"/>
                </a:lnTo>
                <a:lnTo>
                  <a:pt x="1481475" y="529979"/>
                </a:lnTo>
                <a:lnTo>
                  <a:pt x="0" y="529979"/>
                </a:lnTo>
                <a:lnTo>
                  <a:pt x="0" y="0"/>
                </a:lnTo>
                <a:close/>
              </a:path>
            </a:pathLst>
          </a:custGeom>
          <a:blipFill rotWithShape="1">
            <a:blip r:embed="rId3">
              <a:alphaModFix/>
            </a:blip>
            <a:stretch>
              <a:fillRect l="-579" b="-25708"/>
            </a:stretch>
          </a:blipFill>
          <a:ln>
            <a:noFill/>
          </a:ln>
        </p:spPr>
        <p:txBody>
          <a:bodyPr/>
          <a:lstStyle/>
          <a:p>
            <a:endParaRPr lang="es-CL"/>
          </a:p>
        </p:txBody>
      </p:sp>
      <p:pic>
        <p:nvPicPr>
          <p:cNvPr id="3" name="Imagen 2">
            <a:extLst>
              <a:ext uri="{FF2B5EF4-FFF2-40B4-BE49-F238E27FC236}">
                <a16:creationId xmlns:a16="http://schemas.microsoft.com/office/drawing/2014/main" id="{CC4C6A1D-0E10-B522-9C50-43C9906073BB}"/>
              </a:ext>
            </a:extLst>
          </p:cNvPr>
          <p:cNvPicPr>
            <a:picLocks noChangeAspect="1"/>
          </p:cNvPicPr>
          <p:nvPr/>
        </p:nvPicPr>
        <p:blipFill>
          <a:blip r:embed="rId4"/>
          <a:stretch>
            <a:fillRect/>
          </a:stretch>
        </p:blipFill>
        <p:spPr>
          <a:xfrm>
            <a:off x="1689203" y="2954951"/>
            <a:ext cx="5973779" cy="1787354"/>
          </a:xfrm>
          <a:prstGeom prst="rect">
            <a:avLst/>
          </a:prstGeom>
        </p:spPr>
      </p:pic>
    </p:spTree>
    <p:extLst>
      <p:ext uri="{BB962C8B-B14F-4D97-AF65-F5344CB8AC3E}">
        <p14:creationId xmlns:p14="http://schemas.microsoft.com/office/powerpoint/2010/main" val="1885892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93B"/>
        </a:solidFill>
        <a:effectLst/>
      </p:bgPr>
    </p:bg>
    <p:spTree>
      <p:nvGrpSpPr>
        <p:cNvPr id="1" name="Shape 131">
          <a:extLst>
            <a:ext uri="{FF2B5EF4-FFF2-40B4-BE49-F238E27FC236}">
              <a16:creationId xmlns:a16="http://schemas.microsoft.com/office/drawing/2014/main" id="{F4C6EE13-B34D-4482-6404-17BB98C43686}"/>
            </a:ext>
          </a:extLst>
        </p:cNvPr>
        <p:cNvGrpSpPr/>
        <p:nvPr/>
      </p:nvGrpSpPr>
      <p:grpSpPr>
        <a:xfrm>
          <a:off x="0" y="0"/>
          <a:ext cx="0" cy="0"/>
          <a:chOff x="0" y="0"/>
          <a:chExt cx="0" cy="0"/>
        </a:xfrm>
      </p:grpSpPr>
      <p:sp>
        <p:nvSpPr>
          <p:cNvPr id="133" name="Google Shape;133;p20">
            <a:extLst>
              <a:ext uri="{FF2B5EF4-FFF2-40B4-BE49-F238E27FC236}">
                <a16:creationId xmlns:a16="http://schemas.microsoft.com/office/drawing/2014/main" id="{78287B14-FE5B-3526-A4A7-1AA58794574A}"/>
              </a:ext>
            </a:extLst>
          </p:cNvPr>
          <p:cNvSpPr txBox="1"/>
          <p:nvPr/>
        </p:nvSpPr>
        <p:spPr>
          <a:xfrm>
            <a:off x="483251" y="952659"/>
            <a:ext cx="8251870" cy="1853008"/>
          </a:xfrm>
          <a:prstGeom prst="rect">
            <a:avLst/>
          </a:prstGeom>
          <a:noFill/>
          <a:ln>
            <a:noFill/>
          </a:ln>
        </p:spPr>
        <p:txBody>
          <a:bodyPr spcFirstLastPara="1" wrap="square" lIns="0" tIns="0" rIns="0" bIns="0" anchor="t" anchorCtr="0">
            <a:spAutoFit/>
          </a:bodyPr>
          <a:lstStyle/>
          <a:p>
            <a:r>
              <a:rPr lang="es-MX" sz="1338" dirty="0">
                <a:solidFill>
                  <a:schemeClr val="bg1"/>
                </a:solidFill>
                <a:latin typeface="Roboto"/>
                <a:ea typeface="Roboto"/>
                <a:cs typeface="Roboto"/>
              </a:rPr>
              <a:t>-Estandarización (Case-</a:t>
            </a:r>
            <a:r>
              <a:rPr lang="es-MX" sz="1338" dirty="0" err="1">
                <a:solidFill>
                  <a:schemeClr val="bg1"/>
                </a:solidFill>
                <a:latin typeface="Roboto"/>
                <a:ea typeface="Roboto"/>
                <a:cs typeface="Roboto"/>
              </a:rPr>
              <a:t>Folding</a:t>
            </a:r>
            <a:r>
              <a:rPr lang="es-MX" sz="1338" dirty="0">
                <a:solidFill>
                  <a:schemeClr val="bg1"/>
                </a:solidFill>
                <a:latin typeface="Roboto"/>
                <a:ea typeface="Roboto"/>
                <a:cs typeface="Roboto"/>
              </a:rPr>
              <a:t>): Se utiliza la función </a:t>
            </a:r>
            <a:r>
              <a:rPr lang="es-MX" sz="1338" dirty="0" err="1">
                <a:solidFill>
                  <a:schemeClr val="bg1"/>
                </a:solidFill>
                <a:latin typeface="Roboto"/>
                <a:ea typeface="Roboto"/>
                <a:cs typeface="Roboto"/>
              </a:rPr>
              <a:t>tolower</a:t>
            </a:r>
            <a:r>
              <a:rPr lang="es-MX" sz="1338" dirty="0">
                <a:solidFill>
                  <a:schemeClr val="bg1"/>
                </a:solidFill>
                <a:latin typeface="Roboto"/>
                <a:ea typeface="Roboto"/>
                <a:cs typeface="Roboto"/>
              </a:rPr>
              <a:t> para convertir todo el texto a minúsculas. Esto elimina la sensibilidad a mayúsculas (case-</a:t>
            </a:r>
            <a:r>
              <a:rPr lang="es-MX" sz="1338" dirty="0" err="1">
                <a:solidFill>
                  <a:schemeClr val="bg1"/>
                </a:solidFill>
                <a:latin typeface="Roboto"/>
                <a:ea typeface="Roboto"/>
                <a:cs typeface="Roboto"/>
              </a:rPr>
              <a:t>sensitivity</a:t>
            </a:r>
            <a:r>
              <a:rPr lang="es-MX" sz="1338" dirty="0">
                <a:solidFill>
                  <a:schemeClr val="bg1"/>
                </a:solidFill>
                <a:latin typeface="Roboto"/>
                <a:ea typeface="Roboto"/>
                <a:cs typeface="Roboto"/>
              </a:rPr>
              <a:t>), asegurando que "Perro" y "perro" se traten como el mismo término. </a:t>
            </a:r>
          </a:p>
          <a:p>
            <a:endParaRPr lang="es-MX" sz="1338" dirty="0">
              <a:solidFill>
                <a:schemeClr val="bg1"/>
              </a:solidFill>
              <a:latin typeface="Roboto"/>
              <a:ea typeface="Roboto"/>
              <a:cs typeface="Roboto"/>
            </a:endParaRPr>
          </a:p>
          <a:p>
            <a:r>
              <a:rPr lang="es-MX" sz="1338" dirty="0">
                <a:solidFill>
                  <a:schemeClr val="bg1"/>
                </a:solidFill>
                <a:latin typeface="Roboto"/>
                <a:ea typeface="Roboto"/>
                <a:cs typeface="Roboto"/>
              </a:rPr>
              <a:t>-Limpieza de Ruido: Mediante la función </a:t>
            </a:r>
            <a:r>
              <a:rPr lang="es-MX" sz="1338" dirty="0" err="1">
                <a:solidFill>
                  <a:schemeClr val="bg1"/>
                </a:solidFill>
                <a:latin typeface="Roboto"/>
                <a:ea typeface="Roboto"/>
                <a:cs typeface="Roboto"/>
              </a:rPr>
              <a:t>gsub</a:t>
            </a:r>
            <a:r>
              <a:rPr lang="es-MX" sz="1338" dirty="0">
                <a:solidFill>
                  <a:schemeClr val="bg1"/>
                </a:solidFill>
                <a:latin typeface="Roboto"/>
                <a:ea typeface="Roboto"/>
                <a:cs typeface="Roboto"/>
              </a:rPr>
              <a:t> y expresiones regulares, se eliminan los signos de puntuación (.,:;!?), dejando únicamente los caracteres alfanuméricos relevantes para la indexación. </a:t>
            </a:r>
          </a:p>
          <a:p>
            <a:endParaRPr lang="es-MX" sz="1338" dirty="0">
              <a:solidFill>
                <a:schemeClr val="bg1"/>
              </a:solidFill>
              <a:latin typeface="Roboto"/>
              <a:ea typeface="Roboto"/>
              <a:cs typeface="Roboto"/>
            </a:endParaRPr>
          </a:p>
          <a:p>
            <a:r>
              <a:rPr lang="es-MX" sz="1338" dirty="0">
                <a:solidFill>
                  <a:schemeClr val="bg1"/>
                </a:solidFill>
                <a:latin typeface="Roboto"/>
                <a:ea typeface="Roboto"/>
                <a:cs typeface="Roboto"/>
              </a:rPr>
              <a:t>-</a:t>
            </a:r>
            <a:r>
              <a:rPr lang="es-MX" sz="1338" dirty="0" err="1">
                <a:solidFill>
                  <a:schemeClr val="bg1"/>
                </a:solidFill>
                <a:latin typeface="Roboto"/>
                <a:ea typeface="Roboto"/>
                <a:cs typeface="Roboto"/>
              </a:rPr>
              <a:t>Tokenización</a:t>
            </a:r>
            <a:r>
              <a:rPr lang="es-MX" sz="1338" dirty="0">
                <a:solidFill>
                  <a:schemeClr val="bg1"/>
                </a:solidFill>
                <a:latin typeface="Roboto"/>
                <a:ea typeface="Roboto"/>
                <a:cs typeface="Roboto"/>
              </a:rPr>
              <a:t> (Split): La función </a:t>
            </a:r>
            <a:r>
              <a:rPr lang="es-MX" sz="1338" dirty="0" err="1">
                <a:solidFill>
                  <a:schemeClr val="bg1"/>
                </a:solidFill>
                <a:latin typeface="Roboto"/>
                <a:ea typeface="Roboto"/>
                <a:cs typeface="Roboto"/>
              </a:rPr>
              <a:t>split</a:t>
            </a:r>
            <a:r>
              <a:rPr lang="es-MX" sz="1338" dirty="0">
                <a:solidFill>
                  <a:schemeClr val="bg1"/>
                </a:solidFill>
                <a:latin typeface="Roboto"/>
                <a:ea typeface="Roboto"/>
                <a:cs typeface="Roboto"/>
              </a:rPr>
              <a:t> divide el texto limpio en un arreglo de palabras (palabras), permitiendo procesar cada término individualmente dentro del bucle.</a:t>
            </a:r>
            <a:endParaRPr lang="es" sz="1338" dirty="0">
              <a:solidFill>
                <a:schemeClr val="bg1"/>
              </a:solidFill>
              <a:latin typeface="Roboto"/>
              <a:ea typeface="Roboto"/>
              <a:cs typeface="Roboto"/>
            </a:endParaRPr>
          </a:p>
        </p:txBody>
      </p:sp>
      <p:sp>
        <p:nvSpPr>
          <p:cNvPr id="134" name="Google Shape;134;p20">
            <a:extLst>
              <a:ext uri="{FF2B5EF4-FFF2-40B4-BE49-F238E27FC236}">
                <a16:creationId xmlns:a16="http://schemas.microsoft.com/office/drawing/2014/main" id="{11DDE141-1016-746A-EBB2-8627907F6364}"/>
              </a:ext>
            </a:extLst>
          </p:cNvPr>
          <p:cNvSpPr txBox="1"/>
          <p:nvPr/>
        </p:nvSpPr>
        <p:spPr>
          <a:xfrm>
            <a:off x="783602" y="317684"/>
            <a:ext cx="6677188" cy="969881"/>
          </a:xfrm>
          <a:prstGeom prst="rect">
            <a:avLst/>
          </a:prstGeom>
          <a:noFill/>
          <a:ln>
            <a:noFill/>
          </a:ln>
        </p:spPr>
        <p:txBody>
          <a:bodyPr spcFirstLastPara="1" wrap="square" lIns="0" tIns="0" rIns="0" bIns="0" anchor="t" anchorCtr="0">
            <a:spAutoFit/>
          </a:bodyPr>
          <a:lstStyle/>
          <a:p>
            <a:r>
              <a:rPr lang="es" sz="3100" dirty="0">
                <a:solidFill>
                  <a:srgbClr val="FFFFFF"/>
                </a:solidFill>
                <a:latin typeface="Montserrat ExtraBold"/>
                <a:sym typeface="Montserrat ExtraBold"/>
              </a:rPr>
              <a:t>Bases y Supuestos</a:t>
            </a:r>
            <a:endParaRPr lang="es" sz="3100" i="0" u="none" strike="noStrike" cap="none" dirty="0">
              <a:solidFill>
                <a:srgbClr val="FFFFFF"/>
              </a:solidFill>
              <a:ea typeface="Montserrat ExtraBold"/>
            </a:endParaRPr>
          </a:p>
          <a:p>
            <a:pPr>
              <a:lnSpc>
                <a:spcPct val="104983"/>
              </a:lnSpc>
            </a:pPr>
            <a:endParaRPr lang="es" sz="3050" dirty="0">
              <a:solidFill>
                <a:srgbClr val="FFFFFF"/>
              </a:solidFill>
              <a:latin typeface="Montserrat ExtraBold"/>
              <a:ea typeface="Montserrat ExtraBold"/>
              <a:cs typeface="Montserrat ExtraBold"/>
            </a:endParaRPr>
          </a:p>
        </p:txBody>
      </p:sp>
      <p:sp>
        <p:nvSpPr>
          <p:cNvPr id="135" name="Google Shape;135;p20">
            <a:extLst>
              <a:ext uri="{FF2B5EF4-FFF2-40B4-BE49-F238E27FC236}">
                <a16:creationId xmlns:a16="http://schemas.microsoft.com/office/drawing/2014/main" id="{346D2DCA-5A8B-599A-97F9-0932587CFF4B}"/>
              </a:ext>
            </a:extLst>
          </p:cNvPr>
          <p:cNvSpPr/>
          <p:nvPr/>
        </p:nvSpPr>
        <p:spPr>
          <a:xfrm>
            <a:off x="7892034" y="4670729"/>
            <a:ext cx="1151847" cy="372310"/>
          </a:xfrm>
          <a:custGeom>
            <a:avLst/>
            <a:gdLst/>
            <a:ahLst/>
            <a:cxnLst/>
            <a:rect l="l" t="t" r="r" b="b"/>
            <a:pathLst>
              <a:path w="1481475" h="529979" extrusionOk="0">
                <a:moveTo>
                  <a:pt x="0" y="0"/>
                </a:moveTo>
                <a:lnTo>
                  <a:pt x="1481475" y="0"/>
                </a:lnTo>
                <a:lnTo>
                  <a:pt x="1481475" y="529979"/>
                </a:lnTo>
                <a:lnTo>
                  <a:pt x="0" y="529979"/>
                </a:lnTo>
                <a:lnTo>
                  <a:pt x="0" y="0"/>
                </a:lnTo>
                <a:close/>
              </a:path>
            </a:pathLst>
          </a:custGeom>
          <a:blipFill rotWithShape="1">
            <a:blip r:embed="rId3">
              <a:alphaModFix/>
            </a:blip>
            <a:stretch>
              <a:fillRect l="-579" b="-25708"/>
            </a:stretch>
          </a:blipFill>
          <a:ln>
            <a:noFill/>
          </a:ln>
        </p:spPr>
        <p:txBody>
          <a:bodyPr/>
          <a:lstStyle/>
          <a:p>
            <a:endParaRPr lang="es-CL"/>
          </a:p>
        </p:txBody>
      </p:sp>
      <p:pic>
        <p:nvPicPr>
          <p:cNvPr id="3" name="Imagen 2">
            <a:extLst>
              <a:ext uri="{FF2B5EF4-FFF2-40B4-BE49-F238E27FC236}">
                <a16:creationId xmlns:a16="http://schemas.microsoft.com/office/drawing/2014/main" id="{34394A54-4D21-6CD9-45A7-0F0858F8C47B}"/>
              </a:ext>
            </a:extLst>
          </p:cNvPr>
          <p:cNvPicPr>
            <a:picLocks noChangeAspect="1"/>
          </p:cNvPicPr>
          <p:nvPr/>
        </p:nvPicPr>
        <p:blipFill>
          <a:blip r:embed="rId4"/>
          <a:stretch>
            <a:fillRect/>
          </a:stretch>
        </p:blipFill>
        <p:spPr>
          <a:xfrm>
            <a:off x="1835357" y="2810186"/>
            <a:ext cx="5235394" cy="2232853"/>
          </a:xfrm>
          <a:prstGeom prst="rect">
            <a:avLst/>
          </a:prstGeom>
        </p:spPr>
      </p:pic>
    </p:spTree>
    <p:extLst>
      <p:ext uri="{BB962C8B-B14F-4D97-AF65-F5344CB8AC3E}">
        <p14:creationId xmlns:p14="http://schemas.microsoft.com/office/powerpoint/2010/main" val="4244937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93B"/>
        </a:solidFill>
        <a:effectLst/>
      </p:bgPr>
    </p:bg>
    <p:spTree>
      <p:nvGrpSpPr>
        <p:cNvPr id="1" name="Shape 116">
          <a:extLst>
            <a:ext uri="{FF2B5EF4-FFF2-40B4-BE49-F238E27FC236}">
              <a16:creationId xmlns:a16="http://schemas.microsoft.com/office/drawing/2014/main" id="{2DBE0B3C-8EFB-B11E-05A8-4118153C2AD7}"/>
            </a:ext>
          </a:extLst>
        </p:cNvPr>
        <p:cNvGrpSpPr/>
        <p:nvPr/>
      </p:nvGrpSpPr>
      <p:grpSpPr>
        <a:xfrm>
          <a:off x="0" y="0"/>
          <a:ext cx="0" cy="0"/>
          <a:chOff x="0" y="0"/>
          <a:chExt cx="0" cy="0"/>
        </a:xfrm>
      </p:grpSpPr>
      <p:pic>
        <p:nvPicPr>
          <p:cNvPr id="117" name="Google Shape;117;p18">
            <a:extLst>
              <a:ext uri="{FF2B5EF4-FFF2-40B4-BE49-F238E27FC236}">
                <a16:creationId xmlns:a16="http://schemas.microsoft.com/office/drawing/2014/main" id="{E194E762-E175-E071-FCAD-88FE5AE687E3}"/>
              </a:ext>
            </a:extLst>
          </p:cNvPr>
          <p:cNvPicPr preferRelativeResize="0"/>
          <p:nvPr/>
        </p:nvPicPr>
        <p:blipFill>
          <a:blip r:embed="rId3">
            <a:alphaModFix amt="55000"/>
          </a:blip>
          <a:stretch>
            <a:fillRect/>
          </a:stretch>
        </p:blipFill>
        <p:spPr>
          <a:xfrm>
            <a:off x="8" y="13"/>
            <a:ext cx="9144003" cy="5143484"/>
          </a:xfrm>
          <a:prstGeom prst="rect">
            <a:avLst/>
          </a:prstGeom>
          <a:noFill/>
          <a:ln>
            <a:noFill/>
          </a:ln>
        </p:spPr>
      </p:pic>
      <p:sp>
        <p:nvSpPr>
          <p:cNvPr id="118" name="Google Shape;118;p18">
            <a:extLst>
              <a:ext uri="{FF2B5EF4-FFF2-40B4-BE49-F238E27FC236}">
                <a16:creationId xmlns:a16="http://schemas.microsoft.com/office/drawing/2014/main" id="{9C86226B-5C48-0786-90C2-349FF6E389E0}"/>
              </a:ext>
            </a:extLst>
          </p:cNvPr>
          <p:cNvSpPr txBox="1"/>
          <p:nvPr/>
        </p:nvSpPr>
        <p:spPr>
          <a:xfrm>
            <a:off x="2104795" y="2008496"/>
            <a:ext cx="4934400" cy="1147237"/>
          </a:xfrm>
          <a:prstGeom prst="rect">
            <a:avLst/>
          </a:prstGeom>
          <a:noFill/>
          <a:ln>
            <a:noFill/>
          </a:ln>
        </p:spPr>
        <p:txBody>
          <a:bodyPr spcFirstLastPara="1" wrap="square" lIns="0" tIns="0" rIns="0" bIns="0" anchor="t" anchorCtr="0">
            <a:spAutoFit/>
          </a:bodyPr>
          <a:lstStyle/>
          <a:p>
            <a:pPr algn="ctr">
              <a:lnSpc>
                <a:spcPct val="104983"/>
              </a:lnSpc>
            </a:pPr>
            <a:r>
              <a:rPr lang="es" sz="3550" dirty="0">
                <a:solidFill>
                  <a:srgbClr val="FFFFFF"/>
                </a:solidFill>
                <a:latin typeface="Montserrat ExtraBold"/>
              </a:rPr>
              <a:t>Arquitectura del Sistema</a:t>
            </a:r>
          </a:p>
        </p:txBody>
      </p:sp>
      <p:sp>
        <p:nvSpPr>
          <p:cNvPr id="119" name="Google Shape;119;p18">
            <a:extLst>
              <a:ext uri="{FF2B5EF4-FFF2-40B4-BE49-F238E27FC236}">
                <a16:creationId xmlns:a16="http://schemas.microsoft.com/office/drawing/2014/main" id="{069CFC80-5AC5-85CA-AD20-4BB6ADFDB6CD}"/>
              </a:ext>
            </a:extLst>
          </p:cNvPr>
          <p:cNvSpPr/>
          <p:nvPr/>
        </p:nvSpPr>
        <p:spPr>
          <a:xfrm>
            <a:off x="7892034" y="4670729"/>
            <a:ext cx="1151847" cy="372310"/>
          </a:xfrm>
          <a:custGeom>
            <a:avLst/>
            <a:gdLst/>
            <a:ahLst/>
            <a:cxnLst/>
            <a:rect l="l" t="t" r="r" b="b"/>
            <a:pathLst>
              <a:path w="1481475" h="529979" extrusionOk="0">
                <a:moveTo>
                  <a:pt x="0" y="0"/>
                </a:moveTo>
                <a:lnTo>
                  <a:pt x="1481475" y="0"/>
                </a:lnTo>
                <a:lnTo>
                  <a:pt x="1481475" y="529979"/>
                </a:lnTo>
                <a:lnTo>
                  <a:pt x="0" y="529979"/>
                </a:lnTo>
                <a:lnTo>
                  <a:pt x="0" y="0"/>
                </a:lnTo>
                <a:close/>
              </a:path>
            </a:pathLst>
          </a:custGeom>
          <a:blipFill rotWithShape="1">
            <a:blip r:embed="rId4">
              <a:alphaModFix/>
            </a:blip>
            <a:stretch>
              <a:fillRect l="-579" b="-25708"/>
            </a:stretch>
          </a:blipFill>
          <a:ln>
            <a:noFill/>
          </a:ln>
        </p:spPr>
        <p:txBody>
          <a:bodyPr/>
          <a:lstStyle/>
          <a:p>
            <a:endParaRPr lang="es-CL"/>
          </a:p>
        </p:txBody>
      </p:sp>
    </p:spTree>
    <p:extLst>
      <p:ext uri="{BB962C8B-B14F-4D97-AF65-F5344CB8AC3E}">
        <p14:creationId xmlns:p14="http://schemas.microsoft.com/office/powerpoint/2010/main" val="3390327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93B"/>
        </a:solidFill>
        <a:effectLst/>
      </p:bgPr>
    </p:bg>
    <p:spTree>
      <p:nvGrpSpPr>
        <p:cNvPr id="1" name="Shape 131">
          <a:extLst>
            <a:ext uri="{FF2B5EF4-FFF2-40B4-BE49-F238E27FC236}">
              <a16:creationId xmlns:a16="http://schemas.microsoft.com/office/drawing/2014/main" id="{E5E7444E-28FA-ED1A-9E1B-17DEF8E5C69A}"/>
            </a:ext>
          </a:extLst>
        </p:cNvPr>
        <p:cNvGrpSpPr/>
        <p:nvPr/>
      </p:nvGrpSpPr>
      <p:grpSpPr>
        <a:xfrm>
          <a:off x="0" y="0"/>
          <a:ext cx="0" cy="0"/>
          <a:chOff x="0" y="0"/>
          <a:chExt cx="0" cy="0"/>
        </a:xfrm>
      </p:grpSpPr>
      <p:sp>
        <p:nvSpPr>
          <p:cNvPr id="133" name="Google Shape;133;p20">
            <a:extLst>
              <a:ext uri="{FF2B5EF4-FFF2-40B4-BE49-F238E27FC236}">
                <a16:creationId xmlns:a16="http://schemas.microsoft.com/office/drawing/2014/main" id="{65E2E4BE-35A2-9AFE-9ED9-65FBA5F17AAC}"/>
              </a:ext>
            </a:extLst>
          </p:cNvPr>
          <p:cNvSpPr txBox="1"/>
          <p:nvPr/>
        </p:nvSpPr>
        <p:spPr>
          <a:xfrm>
            <a:off x="424314" y="1029350"/>
            <a:ext cx="3349864" cy="4006931"/>
          </a:xfrm>
          <a:prstGeom prst="rect">
            <a:avLst/>
          </a:prstGeom>
          <a:noFill/>
          <a:ln>
            <a:noFill/>
          </a:ln>
        </p:spPr>
        <p:txBody>
          <a:bodyPr spcFirstLastPara="1" wrap="square" lIns="0" tIns="0" rIns="0" bIns="0" anchor="t" anchorCtr="0">
            <a:spAutoFit/>
          </a:bodyPr>
          <a:lstStyle/>
          <a:p>
            <a:r>
              <a:rPr lang="es-MX" sz="1300" dirty="0">
                <a:solidFill>
                  <a:schemeClr val="bg1"/>
                </a:solidFill>
                <a:ea typeface="Roboto"/>
              </a:rPr>
              <a:t>-Flujo de Trabajo Modular: El sistema se diseña como una tubería (pipeline) de tres etapas secuenciales, desacoplando la extracción de datos de la lógica de búsqueda. </a:t>
            </a:r>
          </a:p>
          <a:p>
            <a:endParaRPr lang="es-MX" sz="1300" dirty="0">
              <a:solidFill>
                <a:schemeClr val="bg1"/>
              </a:solidFill>
              <a:ea typeface="Roboto"/>
            </a:endParaRPr>
          </a:p>
          <a:p>
            <a:r>
              <a:rPr lang="es-MX" sz="1300" dirty="0">
                <a:solidFill>
                  <a:schemeClr val="bg1"/>
                </a:solidFill>
                <a:ea typeface="Roboto"/>
              </a:rPr>
              <a:t>-Orquestación (</a:t>
            </a:r>
            <a:r>
              <a:rPr lang="es-MX" sz="1300" dirty="0" err="1">
                <a:solidFill>
                  <a:schemeClr val="bg1"/>
                </a:solidFill>
                <a:ea typeface="Roboto"/>
              </a:rPr>
              <a:t>Makefile</a:t>
            </a:r>
            <a:r>
              <a:rPr lang="es-MX" sz="1300" dirty="0">
                <a:solidFill>
                  <a:schemeClr val="bg1"/>
                </a:solidFill>
                <a:ea typeface="Roboto"/>
              </a:rPr>
              <a:t>): Se utiliza un archivo </a:t>
            </a:r>
            <a:r>
              <a:rPr lang="es-MX" sz="1300" dirty="0" err="1">
                <a:solidFill>
                  <a:schemeClr val="bg1"/>
                </a:solidFill>
                <a:ea typeface="Roboto"/>
              </a:rPr>
              <a:t>Makefile</a:t>
            </a:r>
            <a:r>
              <a:rPr lang="es-MX" sz="1300" dirty="0">
                <a:solidFill>
                  <a:schemeClr val="bg1"/>
                </a:solidFill>
                <a:ea typeface="Roboto"/>
              </a:rPr>
              <a:t> para automatizar la ejecución. Esto garantiza que la indexación (AWK) ocurra estrictamente antes de la limpieza y la búsqueda (Python). </a:t>
            </a:r>
          </a:p>
          <a:p>
            <a:endParaRPr lang="es-MX" sz="1300" dirty="0">
              <a:solidFill>
                <a:schemeClr val="bg1"/>
              </a:solidFill>
              <a:ea typeface="Roboto"/>
            </a:endParaRPr>
          </a:p>
          <a:p>
            <a:r>
              <a:rPr lang="es-MX" sz="1300" dirty="0">
                <a:solidFill>
                  <a:schemeClr val="bg1"/>
                </a:solidFill>
                <a:ea typeface="Roboto"/>
              </a:rPr>
              <a:t>-Interoperabilidad: La comunicación entre los módulos (AWK y Python) se realiza mediante archivos de texto plano (index_raw.txt), lo que permite integrar distintos paradigmas de programación de manera transparente.</a:t>
            </a:r>
            <a:endParaRPr lang="es" sz="1300" dirty="0">
              <a:solidFill>
                <a:schemeClr val="bg1"/>
              </a:solidFill>
              <a:ea typeface="Roboto"/>
            </a:endParaRPr>
          </a:p>
          <a:p>
            <a:endParaRPr lang="es" sz="1300" b="1" dirty="0">
              <a:solidFill>
                <a:schemeClr val="bg1"/>
              </a:solidFill>
              <a:ea typeface="Roboto"/>
            </a:endParaRPr>
          </a:p>
          <a:p>
            <a:endParaRPr lang="es" sz="1300" b="1" dirty="0">
              <a:solidFill>
                <a:schemeClr val="bg1"/>
              </a:solidFill>
              <a:ea typeface="Roboto"/>
            </a:endParaRPr>
          </a:p>
          <a:p>
            <a:endParaRPr lang="es" sz="1338" dirty="0">
              <a:solidFill>
                <a:schemeClr val="bg1"/>
              </a:solidFill>
              <a:latin typeface="Roboto"/>
              <a:ea typeface="Roboto"/>
              <a:cs typeface="Roboto"/>
            </a:endParaRPr>
          </a:p>
        </p:txBody>
      </p:sp>
      <p:sp>
        <p:nvSpPr>
          <p:cNvPr id="134" name="Google Shape;134;p20">
            <a:extLst>
              <a:ext uri="{FF2B5EF4-FFF2-40B4-BE49-F238E27FC236}">
                <a16:creationId xmlns:a16="http://schemas.microsoft.com/office/drawing/2014/main" id="{64F7CD7A-B79D-EC25-27E8-97BCD25167D3}"/>
              </a:ext>
            </a:extLst>
          </p:cNvPr>
          <p:cNvSpPr txBox="1"/>
          <p:nvPr/>
        </p:nvSpPr>
        <p:spPr>
          <a:xfrm>
            <a:off x="729542" y="317684"/>
            <a:ext cx="7971873" cy="477054"/>
          </a:xfrm>
          <a:prstGeom prst="rect">
            <a:avLst/>
          </a:prstGeom>
          <a:noFill/>
          <a:ln>
            <a:noFill/>
          </a:ln>
        </p:spPr>
        <p:txBody>
          <a:bodyPr spcFirstLastPara="1" wrap="square" lIns="0" tIns="0" rIns="0" bIns="0" anchor="t" anchorCtr="0">
            <a:spAutoFit/>
          </a:bodyPr>
          <a:lstStyle/>
          <a:p>
            <a:r>
              <a:rPr lang="es" sz="3100" i="0" u="none" strike="noStrike" cap="none" dirty="0">
                <a:solidFill>
                  <a:srgbClr val="FFFFFF"/>
                </a:solidFill>
                <a:latin typeface="Montserrat ExtraBold"/>
                <a:ea typeface="Montserrat ExtraBold"/>
              </a:rPr>
              <a:t>Arquitectura del Sistema</a:t>
            </a:r>
          </a:p>
        </p:txBody>
      </p:sp>
      <p:sp>
        <p:nvSpPr>
          <p:cNvPr id="135" name="Google Shape;135;p20">
            <a:extLst>
              <a:ext uri="{FF2B5EF4-FFF2-40B4-BE49-F238E27FC236}">
                <a16:creationId xmlns:a16="http://schemas.microsoft.com/office/drawing/2014/main" id="{A9A8366D-23E3-3643-9145-0647CCBC14F9}"/>
              </a:ext>
            </a:extLst>
          </p:cNvPr>
          <p:cNvSpPr/>
          <p:nvPr/>
        </p:nvSpPr>
        <p:spPr>
          <a:xfrm>
            <a:off x="7892034" y="4670729"/>
            <a:ext cx="1151847" cy="372310"/>
          </a:xfrm>
          <a:custGeom>
            <a:avLst/>
            <a:gdLst/>
            <a:ahLst/>
            <a:cxnLst/>
            <a:rect l="l" t="t" r="r" b="b"/>
            <a:pathLst>
              <a:path w="1481475" h="529979" extrusionOk="0">
                <a:moveTo>
                  <a:pt x="0" y="0"/>
                </a:moveTo>
                <a:lnTo>
                  <a:pt x="1481475" y="0"/>
                </a:lnTo>
                <a:lnTo>
                  <a:pt x="1481475" y="529979"/>
                </a:lnTo>
                <a:lnTo>
                  <a:pt x="0" y="529979"/>
                </a:lnTo>
                <a:lnTo>
                  <a:pt x="0" y="0"/>
                </a:lnTo>
                <a:close/>
              </a:path>
            </a:pathLst>
          </a:custGeom>
          <a:blipFill rotWithShape="1">
            <a:blip r:embed="rId3">
              <a:alphaModFix/>
            </a:blip>
            <a:stretch>
              <a:fillRect l="-579" b="-25708"/>
            </a:stretch>
          </a:blipFill>
          <a:ln>
            <a:noFill/>
          </a:ln>
        </p:spPr>
        <p:txBody>
          <a:bodyPr/>
          <a:lstStyle/>
          <a:p>
            <a:endParaRPr lang="es-CL"/>
          </a:p>
        </p:txBody>
      </p:sp>
      <p:pic>
        <p:nvPicPr>
          <p:cNvPr id="4" name="Imagen 3">
            <a:extLst>
              <a:ext uri="{FF2B5EF4-FFF2-40B4-BE49-F238E27FC236}">
                <a16:creationId xmlns:a16="http://schemas.microsoft.com/office/drawing/2014/main" id="{C062FA3B-B3E4-5652-24C7-C3EDF19C6541}"/>
              </a:ext>
            </a:extLst>
          </p:cNvPr>
          <p:cNvPicPr>
            <a:picLocks noChangeAspect="1"/>
          </p:cNvPicPr>
          <p:nvPr/>
        </p:nvPicPr>
        <p:blipFill>
          <a:blip r:embed="rId4"/>
          <a:stretch>
            <a:fillRect/>
          </a:stretch>
        </p:blipFill>
        <p:spPr>
          <a:xfrm>
            <a:off x="3879192" y="1169181"/>
            <a:ext cx="4840494" cy="2805138"/>
          </a:xfrm>
          <a:prstGeom prst="rect">
            <a:avLst/>
          </a:prstGeom>
        </p:spPr>
      </p:pic>
    </p:spTree>
    <p:extLst>
      <p:ext uri="{BB962C8B-B14F-4D97-AF65-F5344CB8AC3E}">
        <p14:creationId xmlns:p14="http://schemas.microsoft.com/office/powerpoint/2010/main" val="1116246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93B"/>
        </a:solidFill>
        <a:effectLst/>
      </p:bgPr>
    </p:bg>
    <p:spTree>
      <p:nvGrpSpPr>
        <p:cNvPr id="1" name="Shape 116">
          <a:extLst>
            <a:ext uri="{FF2B5EF4-FFF2-40B4-BE49-F238E27FC236}">
              <a16:creationId xmlns:a16="http://schemas.microsoft.com/office/drawing/2014/main" id="{A5995335-F393-5678-55BE-C6F78F5748B4}"/>
            </a:ext>
          </a:extLst>
        </p:cNvPr>
        <p:cNvGrpSpPr/>
        <p:nvPr/>
      </p:nvGrpSpPr>
      <p:grpSpPr>
        <a:xfrm>
          <a:off x="0" y="0"/>
          <a:ext cx="0" cy="0"/>
          <a:chOff x="0" y="0"/>
          <a:chExt cx="0" cy="0"/>
        </a:xfrm>
      </p:grpSpPr>
      <p:pic>
        <p:nvPicPr>
          <p:cNvPr id="117" name="Google Shape;117;p18">
            <a:extLst>
              <a:ext uri="{FF2B5EF4-FFF2-40B4-BE49-F238E27FC236}">
                <a16:creationId xmlns:a16="http://schemas.microsoft.com/office/drawing/2014/main" id="{6ACDF018-E174-357D-B3E9-38065672628E}"/>
              </a:ext>
            </a:extLst>
          </p:cNvPr>
          <p:cNvPicPr preferRelativeResize="0"/>
          <p:nvPr/>
        </p:nvPicPr>
        <p:blipFill>
          <a:blip r:embed="rId3">
            <a:alphaModFix amt="55000"/>
          </a:blip>
          <a:stretch>
            <a:fillRect/>
          </a:stretch>
        </p:blipFill>
        <p:spPr>
          <a:xfrm>
            <a:off x="8" y="13"/>
            <a:ext cx="9144003" cy="5143484"/>
          </a:xfrm>
          <a:prstGeom prst="rect">
            <a:avLst/>
          </a:prstGeom>
          <a:noFill/>
          <a:ln>
            <a:noFill/>
          </a:ln>
        </p:spPr>
      </p:pic>
      <p:sp>
        <p:nvSpPr>
          <p:cNvPr id="118" name="Google Shape;118;p18">
            <a:extLst>
              <a:ext uri="{FF2B5EF4-FFF2-40B4-BE49-F238E27FC236}">
                <a16:creationId xmlns:a16="http://schemas.microsoft.com/office/drawing/2014/main" id="{F84E5BB5-6EB8-5B84-EDD3-4458AA2B383F}"/>
              </a:ext>
            </a:extLst>
          </p:cNvPr>
          <p:cNvSpPr txBox="1"/>
          <p:nvPr/>
        </p:nvSpPr>
        <p:spPr>
          <a:xfrm>
            <a:off x="2104795" y="2008496"/>
            <a:ext cx="4934400" cy="1147237"/>
          </a:xfrm>
          <a:prstGeom prst="rect">
            <a:avLst/>
          </a:prstGeom>
          <a:noFill/>
          <a:ln>
            <a:noFill/>
          </a:ln>
        </p:spPr>
        <p:txBody>
          <a:bodyPr spcFirstLastPara="1" wrap="square" lIns="0" tIns="0" rIns="0" bIns="0" anchor="t" anchorCtr="0">
            <a:spAutoFit/>
          </a:bodyPr>
          <a:lstStyle/>
          <a:p>
            <a:pPr algn="ctr">
              <a:lnSpc>
                <a:spcPct val="104983"/>
              </a:lnSpc>
            </a:pPr>
            <a:r>
              <a:rPr lang="es" sz="3550" dirty="0">
                <a:solidFill>
                  <a:srgbClr val="FFFFFF"/>
                </a:solidFill>
                <a:latin typeface="Montserrat ExtraBold"/>
              </a:rPr>
              <a:t>Implementación Recursiva</a:t>
            </a:r>
          </a:p>
        </p:txBody>
      </p:sp>
      <p:sp>
        <p:nvSpPr>
          <p:cNvPr id="119" name="Google Shape;119;p18">
            <a:extLst>
              <a:ext uri="{FF2B5EF4-FFF2-40B4-BE49-F238E27FC236}">
                <a16:creationId xmlns:a16="http://schemas.microsoft.com/office/drawing/2014/main" id="{CF592840-6B7B-67BF-F827-2FFDE9296E01}"/>
              </a:ext>
            </a:extLst>
          </p:cNvPr>
          <p:cNvSpPr/>
          <p:nvPr/>
        </p:nvSpPr>
        <p:spPr>
          <a:xfrm>
            <a:off x="7892034" y="4670729"/>
            <a:ext cx="1151847" cy="372310"/>
          </a:xfrm>
          <a:custGeom>
            <a:avLst/>
            <a:gdLst/>
            <a:ahLst/>
            <a:cxnLst/>
            <a:rect l="l" t="t" r="r" b="b"/>
            <a:pathLst>
              <a:path w="1481475" h="529979" extrusionOk="0">
                <a:moveTo>
                  <a:pt x="0" y="0"/>
                </a:moveTo>
                <a:lnTo>
                  <a:pt x="1481475" y="0"/>
                </a:lnTo>
                <a:lnTo>
                  <a:pt x="1481475" y="529979"/>
                </a:lnTo>
                <a:lnTo>
                  <a:pt x="0" y="529979"/>
                </a:lnTo>
                <a:lnTo>
                  <a:pt x="0" y="0"/>
                </a:lnTo>
                <a:close/>
              </a:path>
            </a:pathLst>
          </a:custGeom>
          <a:blipFill rotWithShape="1">
            <a:blip r:embed="rId4">
              <a:alphaModFix/>
            </a:blip>
            <a:stretch>
              <a:fillRect l="-579" b="-25708"/>
            </a:stretch>
          </a:blipFill>
          <a:ln>
            <a:noFill/>
          </a:ln>
        </p:spPr>
        <p:txBody>
          <a:bodyPr/>
          <a:lstStyle/>
          <a:p>
            <a:endParaRPr lang="es-CL"/>
          </a:p>
        </p:txBody>
      </p:sp>
    </p:spTree>
    <p:extLst>
      <p:ext uri="{BB962C8B-B14F-4D97-AF65-F5344CB8AC3E}">
        <p14:creationId xmlns:p14="http://schemas.microsoft.com/office/powerpoint/2010/main" val="1078502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93B"/>
        </a:solidFill>
        <a:effectLst/>
      </p:bgPr>
    </p:bg>
    <p:spTree>
      <p:nvGrpSpPr>
        <p:cNvPr id="1" name="Shape 131">
          <a:extLst>
            <a:ext uri="{FF2B5EF4-FFF2-40B4-BE49-F238E27FC236}">
              <a16:creationId xmlns:a16="http://schemas.microsoft.com/office/drawing/2014/main" id="{D07C9AF9-DF53-6EC9-0C6A-C78900EC4AF4}"/>
            </a:ext>
          </a:extLst>
        </p:cNvPr>
        <p:cNvGrpSpPr/>
        <p:nvPr/>
      </p:nvGrpSpPr>
      <p:grpSpPr>
        <a:xfrm>
          <a:off x="0" y="0"/>
          <a:ext cx="0" cy="0"/>
          <a:chOff x="0" y="0"/>
          <a:chExt cx="0" cy="0"/>
        </a:xfrm>
      </p:grpSpPr>
      <p:sp>
        <p:nvSpPr>
          <p:cNvPr id="133" name="Google Shape;133;p20">
            <a:extLst>
              <a:ext uri="{FF2B5EF4-FFF2-40B4-BE49-F238E27FC236}">
                <a16:creationId xmlns:a16="http://schemas.microsoft.com/office/drawing/2014/main" id="{570FEAD1-D708-1BFB-4602-3DAC35934DE0}"/>
              </a:ext>
            </a:extLst>
          </p:cNvPr>
          <p:cNvSpPr txBox="1"/>
          <p:nvPr/>
        </p:nvSpPr>
        <p:spPr>
          <a:xfrm>
            <a:off x="439182" y="905915"/>
            <a:ext cx="3349864" cy="3806876"/>
          </a:xfrm>
          <a:prstGeom prst="rect">
            <a:avLst/>
          </a:prstGeom>
          <a:noFill/>
          <a:ln>
            <a:noFill/>
          </a:ln>
        </p:spPr>
        <p:txBody>
          <a:bodyPr spcFirstLastPara="1" wrap="square" lIns="0" tIns="0" rIns="0" bIns="0" anchor="t" anchorCtr="0">
            <a:spAutoFit/>
          </a:bodyPr>
          <a:lstStyle/>
          <a:p>
            <a:r>
              <a:rPr lang="es-MX" sz="1300" dirty="0">
                <a:solidFill>
                  <a:schemeClr val="bg1"/>
                </a:solidFill>
                <a:ea typeface="Roboto"/>
                <a:sym typeface="Roboto"/>
              </a:rPr>
              <a:t>-Sustitución de Iteraciones: Se reemplazan los bucles tradicionales (</a:t>
            </a:r>
            <a:r>
              <a:rPr lang="es-MX" sz="1300" dirty="0" err="1">
                <a:solidFill>
                  <a:schemeClr val="bg1"/>
                </a:solidFill>
                <a:ea typeface="Roboto"/>
                <a:sym typeface="Roboto"/>
              </a:rPr>
              <a:t>for</a:t>
            </a:r>
            <a:r>
              <a:rPr lang="es-MX" sz="1300" dirty="0">
                <a:solidFill>
                  <a:schemeClr val="bg1"/>
                </a:solidFill>
                <a:ea typeface="Roboto"/>
                <a:sym typeface="Roboto"/>
              </a:rPr>
              <a:t>/</a:t>
            </a:r>
            <a:r>
              <a:rPr lang="es-MX" sz="1300" dirty="0" err="1">
                <a:solidFill>
                  <a:schemeClr val="bg1"/>
                </a:solidFill>
                <a:ea typeface="Roboto"/>
                <a:sym typeface="Roboto"/>
              </a:rPr>
              <a:t>while</a:t>
            </a:r>
            <a:r>
              <a:rPr lang="es-MX" sz="1300" dirty="0">
                <a:solidFill>
                  <a:schemeClr val="bg1"/>
                </a:solidFill>
                <a:ea typeface="Roboto"/>
                <a:sym typeface="Roboto"/>
              </a:rPr>
              <a:t>) por recursividad explícita, cumpliendo con el requisito de utilizar el paradigma funcional para controlar el flujo de ejecución. </a:t>
            </a:r>
          </a:p>
          <a:p>
            <a:endParaRPr lang="es-MX" sz="1300" dirty="0">
              <a:solidFill>
                <a:schemeClr val="bg1"/>
              </a:solidFill>
              <a:ea typeface="Roboto"/>
              <a:sym typeface="Roboto"/>
            </a:endParaRPr>
          </a:p>
          <a:p>
            <a:r>
              <a:rPr lang="es-MX" sz="1300" dirty="0">
                <a:solidFill>
                  <a:schemeClr val="bg1"/>
                </a:solidFill>
                <a:ea typeface="Roboto"/>
                <a:sym typeface="Roboto"/>
              </a:rPr>
              <a:t>-Caso Base: La función verifica si el índice actual ha alcanzado el total de líneas del archivo (</a:t>
            </a:r>
            <a:r>
              <a:rPr lang="es-MX" sz="1300" dirty="0" err="1">
                <a:solidFill>
                  <a:schemeClr val="bg1"/>
                </a:solidFill>
                <a:ea typeface="Roboto"/>
                <a:sym typeface="Roboto"/>
              </a:rPr>
              <a:t>index</a:t>
            </a:r>
            <a:r>
              <a:rPr lang="es-MX" sz="1300" dirty="0">
                <a:solidFill>
                  <a:schemeClr val="bg1"/>
                </a:solidFill>
                <a:ea typeface="Roboto"/>
                <a:sym typeface="Roboto"/>
              </a:rPr>
              <a:t> == </a:t>
            </a:r>
            <a:r>
              <a:rPr lang="es-MX" sz="1300" dirty="0" err="1">
                <a:solidFill>
                  <a:schemeClr val="bg1"/>
                </a:solidFill>
                <a:ea typeface="Roboto"/>
                <a:sym typeface="Roboto"/>
              </a:rPr>
              <a:t>len</a:t>
            </a:r>
            <a:r>
              <a:rPr lang="es-MX" sz="1300" dirty="0">
                <a:solidFill>
                  <a:schemeClr val="bg1"/>
                </a:solidFill>
                <a:ea typeface="Roboto"/>
                <a:sym typeface="Roboto"/>
              </a:rPr>
              <a:t>). Si se cumple, detiene la recursión y retorna el resultado acumulado. </a:t>
            </a:r>
          </a:p>
          <a:p>
            <a:endParaRPr lang="es-MX" sz="1300" dirty="0">
              <a:solidFill>
                <a:schemeClr val="bg1"/>
              </a:solidFill>
              <a:ea typeface="Roboto"/>
              <a:sym typeface="Roboto"/>
            </a:endParaRPr>
          </a:p>
          <a:p>
            <a:r>
              <a:rPr lang="es-MX" sz="1300" dirty="0">
                <a:solidFill>
                  <a:schemeClr val="bg1"/>
                </a:solidFill>
                <a:ea typeface="Roboto"/>
                <a:sym typeface="Roboto"/>
              </a:rPr>
              <a:t>-Paso Recursivo: Si no es el final, la función procesa la línea actual y se invoca a sí misma (</a:t>
            </a:r>
            <a:r>
              <a:rPr lang="es-MX" sz="1300" dirty="0" err="1">
                <a:solidFill>
                  <a:schemeClr val="bg1"/>
                </a:solidFill>
                <a:ea typeface="Roboto"/>
                <a:sym typeface="Roboto"/>
              </a:rPr>
              <a:t>return</a:t>
            </a:r>
            <a:r>
              <a:rPr lang="es-MX" sz="1300" dirty="0">
                <a:solidFill>
                  <a:schemeClr val="bg1"/>
                </a:solidFill>
                <a:ea typeface="Roboto"/>
                <a:sym typeface="Roboto"/>
              </a:rPr>
              <a:t> procesar_...), incrementando el índice (</a:t>
            </a:r>
            <a:r>
              <a:rPr lang="es-MX" sz="1300" dirty="0" err="1">
                <a:solidFill>
                  <a:schemeClr val="bg1"/>
                </a:solidFill>
                <a:ea typeface="Roboto"/>
                <a:sym typeface="Roboto"/>
              </a:rPr>
              <a:t>index</a:t>
            </a:r>
            <a:r>
              <a:rPr lang="es-MX" sz="1300" dirty="0">
                <a:solidFill>
                  <a:schemeClr val="bg1"/>
                </a:solidFill>
                <a:ea typeface="Roboto"/>
                <a:sym typeface="Roboto"/>
              </a:rPr>
              <a:t> + 1) y pasando el estado actualizado como argumento, en lugar de modificar variables globales.</a:t>
            </a:r>
            <a:endParaRPr lang="es" sz="1300" b="1" dirty="0">
              <a:solidFill>
                <a:schemeClr val="bg1"/>
              </a:solidFill>
              <a:ea typeface="Roboto"/>
            </a:endParaRPr>
          </a:p>
          <a:p>
            <a:endParaRPr lang="es" sz="1338" dirty="0">
              <a:solidFill>
                <a:schemeClr val="bg1"/>
              </a:solidFill>
              <a:latin typeface="Roboto"/>
              <a:ea typeface="Roboto"/>
              <a:cs typeface="Roboto"/>
            </a:endParaRPr>
          </a:p>
        </p:txBody>
      </p:sp>
      <p:sp>
        <p:nvSpPr>
          <p:cNvPr id="134" name="Google Shape;134;p20">
            <a:extLst>
              <a:ext uri="{FF2B5EF4-FFF2-40B4-BE49-F238E27FC236}">
                <a16:creationId xmlns:a16="http://schemas.microsoft.com/office/drawing/2014/main" id="{C95CF0CD-BF0F-469A-03F5-DC1321A32747}"/>
              </a:ext>
            </a:extLst>
          </p:cNvPr>
          <p:cNvSpPr txBox="1"/>
          <p:nvPr/>
        </p:nvSpPr>
        <p:spPr>
          <a:xfrm>
            <a:off x="729542" y="317684"/>
            <a:ext cx="7971873" cy="477054"/>
          </a:xfrm>
          <a:prstGeom prst="rect">
            <a:avLst/>
          </a:prstGeom>
          <a:noFill/>
          <a:ln>
            <a:noFill/>
          </a:ln>
        </p:spPr>
        <p:txBody>
          <a:bodyPr spcFirstLastPara="1" wrap="square" lIns="0" tIns="0" rIns="0" bIns="0" anchor="t" anchorCtr="0">
            <a:spAutoFit/>
          </a:bodyPr>
          <a:lstStyle/>
          <a:p>
            <a:r>
              <a:rPr lang="es" sz="3100" i="0" u="none" strike="noStrike" cap="none" dirty="0">
                <a:solidFill>
                  <a:srgbClr val="FFFFFF"/>
                </a:solidFill>
                <a:latin typeface="Montserrat ExtraBold"/>
                <a:ea typeface="Montserrat ExtraBold"/>
              </a:rPr>
              <a:t>Implementación Recursiva</a:t>
            </a:r>
          </a:p>
        </p:txBody>
      </p:sp>
      <p:sp>
        <p:nvSpPr>
          <p:cNvPr id="135" name="Google Shape;135;p20">
            <a:extLst>
              <a:ext uri="{FF2B5EF4-FFF2-40B4-BE49-F238E27FC236}">
                <a16:creationId xmlns:a16="http://schemas.microsoft.com/office/drawing/2014/main" id="{0A07A5BB-A3B1-7684-E2E9-F2BA80B38BF1}"/>
              </a:ext>
            </a:extLst>
          </p:cNvPr>
          <p:cNvSpPr/>
          <p:nvPr/>
        </p:nvSpPr>
        <p:spPr>
          <a:xfrm>
            <a:off x="7892034" y="4670729"/>
            <a:ext cx="1151847" cy="372310"/>
          </a:xfrm>
          <a:custGeom>
            <a:avLst/>
            <a:gdLst/>
            <a:ahLst/>
            <a:cxnLst/>
            <a:rect l="l" t="t" r="r" b="b"/>
            <a:pathLst>
              <a:path w="1481475" h="529979" extrusionOk="0">
                <a:moveTo>
                  <a:pt x="0" y="0"/>
                </a:moveTo>
                <a:lnTo>
                  <a:pt x="1481475" y="0"/>
                </a:lnTo>
                <a:lnTo>
                  <a:pt x="1481475" y="529979"/>
                </a:lnTo>
                <a:lnTo>
                  <a:pt x="0" y="529979"/>
                </a:lnTo>
                <a:lnTo>
                  <a:pt x="0" y="0"/>
                </a:lnTo>
                <a:close/>
              </a:path>
            </a:pathLst>
          </a:custGeom>
          <a:blipFill rotWithShape="1">
            <a:blip r:embed="rId3">
              <a:alphaModFix/>
            </a:blip>
            <a:stretch>
              <a:fillRect l="-579" b="-25708"/>
            </a:stretch>
          </a:blipFill>
          <a:ln>
            <a:noFill/>
          </a:ln>
        </p:spPr>
        <p:txBody>
          <a:bodyPr/>
          <a:lstStyle/>
          <a:p>
            <a:endParaRPr lang="es-CL"/>
          </a:p>
        </p:txBody>
      </p:sp>
      <p:pic>
        <p:nvPicPr>
          <p:cNvPr id="4" name="Imagen 3">
            <a:extLst>
              <a:ext uri="{FF2B5EF4-FFF2-40B4-BE49-F238E27FC236}">
                <a16:creationId xmlns:a16="http://schemas.microsoft.com/office/drawing/2014/main" id="{C6EE8BE8-F423-A65B-E82B-2396276F938A}"/>
              </a:ext>
            </a:extLst>
          </p:cNvPr>
          <p:cNvPicPr>
            <a:picLocks noChangeAspect="1"/>
          </p:cNvPicPr>
          <p:nvPr/>
        </p:nvPicPr>
        <p:blipFill>
          <a:blip r:embed="rId4"/>
          <a:stretch>
            <a:fillRect/>
          </a:stretch>
        </p:blipFill>
        <p:spPr>
          <a:xfrm>
            <a:off x="4155688" y="905915"/>
            <a:ext cx="4142020" cy="3809215"/>
          </a:xfrm>
          <a:prstGeom prst="rect">
            <a:avLst/>
          </a:prstGeom>
        </p:spPr>
      </p:pic>
    </p:spTree>
    <p:extLst>
      <p:ext uri="{BB962C8B-B14F-4D97-AF65-F5344CB8AC3E}">
        <p14:creationId xmlns:p14="http://schemas.microsoft.com/office/powerpoint/2010/main" val="3570575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93B"/>
        </a:solidFill>
        <a:effectLst/>
      </p:bgPr>
    </p:bg>
    <p:spTree>
      <p:nvGrpSpPr>
        <p:cNvPr id="1" name="Shape 116">
          <a:extLst>
            <a:ext uri="{FF2B5EF4-FFF2-40B4-BE49-F238E27FC236}">
              <a16:creationId xmlns:a16="http://schemas.microsoft.com/office/drawing/2014/main" id="{9866E235-0F71-86BF-63D2-163102AF39AB}"/>
            </a:ext>
          </a:extLst>
        </p:cNvPr>
        <p:cNvGrpSpPr/>
        <p:nvPr/>
      </p:nvGrpSpPr>
      <p:grpSpPr>
        <a:xfrm>
          <a:off x="0" y="0"/>
          <a:ext cx="0" cy="0"/>
          <a:chOff x="0" y="0"/>
          <a:chExt cx="0" cy="0"/>
        </a:xfrm>
      </p:grpSpPr>
      <p:pic>
        <p:nvPicPr>
          <p:cNvPr id="117" name="Google Shape;117;p18">
            <a:extLst>
              <a:ext uri="{FF2B5EF4-FFF2-40B4-BE49-F238E27FC236}">
                <a16:creationId xmlns:a16="http://schemas.microsoft.com/office/drawing/2014/main" id="{20EB90DF-55AC-E40C-55FD-65D8DC12FE1C}"/>
              </a:ext>
            </a:extLst>
          </p:cNvPr>
          <p:cNvPicPr preferRelativeResize="0"/>
          <p:nvPr/>
        </p:nvPicPr>
        <p:blipFill>
          <a:blip r:embed="rId3">
            <a:alphaModFix amt="55000"/>
          </a:blip>
          <a:stretch>
            <a:fillRect/>
          </a:stretch>
        </p:blipFill>
        <p:spPr>
          <a:xfrm>
            <a:off x="8" y="13"/>
            <a:ext cx="9144003" cy="5143484"/>
          </a:xfrm>
          <a:prstGeom prst="rect">
            <a:avLst/>
          </a:prstGeom>
          <a:noFill/>
          <a:ln>
            <a:noFill/>
          </a:ln>
        </p:spPr>
      </p:pic>
      <p:sp>
        <p:nvSpPr>
          <p:cNvPr id="118" name="Google Shape;118;p18">
            <a:extLst>
              <a:ext uri="{FF2B5EF4-FFF2-40B4-BE49-F238E27FC236}">
                <a16:creationId xmlns:a16="http://schemas.microsoft.com/office/drawing/2014/main" id="{A0D6BB20-4A73-842A-CF80-2FB010D3EAA5}"/>
              </a:ext>
            </a:extLst>
          </p:cNvPr>
          <p:cNvSpPr txBox="1"/>
          <p:nvPr/>
        </p:nvSpPr>
        <p:spPr>
          <a:xfrm>
            <a:off x="2104795" y="2008496"/>
            <a:ext cx="4934400" cy="573619"/>
          </a:xfrm>
          <a:prstGeom prst="rect">
            <a:avLst/>
          </a:prstGeom>
          <a:noFill/>
          <a:ln>
            <a:noFill/>
          </a:ln>
        </p:spPr>
        <p:txBody>
          <a:bodyPr spcFirstLastPara="1" wrap="square" lIns="0" tIns="0" rIns="0" bIns="0" anchor="t" anchorCtr="0">
            <a:spAutoFit/>
          </a:bodyPr>
          <a:lstStyle/>
          <a:p>
            <a:pPr algn="ctr">
              <a:lnSpc>
                <a:spcPct val="104983"/>
              </a:lnSpc>
            </a:pPr>
            <a:r>
              <a:rPr lang="es" sz="3550" dirty="0">
                <a:solidFill>
                  <a:srgbClr val="FFFFFF"/>
                </a:solidFill>
                <a:latin typeface="Montserrat ExtraBold"/>
              </a:rPr>
              <a:t>Lógica de Búsqueda</a:t>
            </a:r>
          </a:p>
        </p:txBody>
      </p:sp>
      <p:sp>
        <p:nvSpPr>
          <p:cNvPr id="119" name="Google Shape;119;p18">
            <a:extLst>
              <a:ext uri="{FF2B5EF4-FFF2-40B4-BE49-F238E27FC236}">
                <a16:creationId xmlns:a16="http://schemas.microsoft.com/office/drawing/2014/main" id="{07BAADB2-D32A-1CC5-A836-32CE23F69530}"/>
              </a:ext>
            </a:extLst>
          </p:cNvPr>
          <p:cNvSpPr/>
          <p:nvPr/>
        </p:nvSpPr>
        <p:spPr>
          <a:xfrm>
            <a:off x="7892034" y="4670729"/>
            <a:ext cx="1151847" cy="372310"/>
          </a:xfrm>
          <a:custGeom>
            <a:avLst/>
            <a:gdLst/>
            <a:ahLst/>
            <a:cxnLst/>
            <a:rect l="l" t="t" r="r" b="b"/>
            <a:pathLst>
              <a:path w="1481475" h="529979" extrusionOk="0">
                <a:moveTo>
                  <a:pt x="0" y="0"/>
                </a:moveTo>
                <a:lnTo>
                  <a:pt x="1481475" y="0"/>
                </a:lnTo>
                <a:lnTo>
                  <a:pt x="1481475" y="529979"/>
                </a:lnTo>
                <a:lnTo>
                  <a:pt x="0" y="529979"/>
                </a:lnTo>
                <a:lnTo>
                  <a:pt x="0" y="0"/>
                </a:lnTo>
                <a:close/>
              </a:path>
            </a:pathLst>
          </a:custGeom>
          <a:blipFill rotWithShape="1">
            <a:blip r:embed="rId4">
              <a:alphaModFix/>
            </a:blip>
            <a:stretch>
              <a:fillRect l="-579" b="-25708"/>
            </a:stretch>
          </a:blipFill>
          <a:ln>
            <a:noFill/>
          </a:ln>
        </p:spPr>
        <p:txBody>
          <a:bodyPr/>
          <a:lstStyle/>
          <a:p>
            <a:endParaRPr lang="es-CL"/>
          </a:p>
        </p:txBody>
      </p:sp>
    </p:spTree>
    <p:extLst>
      <p:ext uri="{BB962C8B-B14F-4D97-AF65-F5344CB8AC3E}">
        <p14:creationId xmlns:p14="http://schemas.microsoft.com/office/powerpoint/2010/main" val="3535784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93B"/>
        </a:solidFill>
        <a:effectLst/>
      </p:bgPr>
    </p:bg>
    <p:spTree>
      <p:nvGrpSpPr>
        <p:cNvPr id="1" name="Shape 131">
          <a:extLst>
            <a:ext uri="{FF2B5EF4-FFF2-40B4-BE49-F238E27FC236}">
              <a16:creationId xmlns:a16="http://schemas.microsoft.com/office/drawing/2014/main" id="{1E033BAE-01F4-1C95-7199-8897FDFD5776}"/>
            </a:ext>
          </a:extLst>
        </p:cNvPr>
        <p:cNvGrpSpPr/>
        <p:nvPr/>
      </p:nvGrpSpPr>
      <p:grpSpPr>
        <a:xfrm>
          <a:off x="0" y="0"/>
          <a:ext cx="0" cy="0"/>
          <a:chOff x="0" y="0"/>
          <a:chExt cx="0" cy="0"/>
        </a:xfrm>
      </p:grpSpPr>
      <p:sp>
        <p:nvSpPr>
          <p:cNvPr id="133" name="Google Shape;133;p20">
            <a:extLst>
              <a:ext uri="{FF2B5EF4-FFF2-40B4-BE49-F238E27FC236}">
                <a16:creationId xmlns:a16="http://schemas.microsoft.com/office/drawing/2014/main" id="{57CB56D8-4158-6C63-650A-D4582123BE5D}"/>
              </a:ext>
            </a:extLst>
          </p:cNvPr>
          <p:cNvSpPr txBox="1"/>
          <p:nvPr/>
        </p:nvSpPr>
        <p:spPr>
          <a:xfrm>
            <a:off x="439182" y="905915"/>
            <a:ext cx="3872624" cy="3400931"/>
          </a:xfrm>
          <a:prstGeom prst="rect">
            <a:avLst/>
          </a:prstGeom>
          <a:noFill/>
          <a:ln>
            <a:noFill/>
          </a:ln>
        </p:spPr>
        <p:txBody>
          <a:bodyPr spcFirstLastPara="1" wrap="square" lIns="0" tIns="0" rIns="0" bIns="0" anchor="t" anchorCtr="0">
            <a:spAutoFit/>
          </a:bodyPr>
          <a:lstStyle/>
          <a:p>
            <a:r>
              <a:rPr lang="es-MX" sz="1300" dirty="0">
                <a:solidFill>
                  <a:schemeClr val="bg1"/>
                </a:solidFill>
                <a:latin typeface="Roboto"/>
                <a:ea typeface="Roboto"/>
                <a:cs typeface="Roboto"/>
                <a:sym typeface="Roboto"/>
              </a:rPr>
              <a:t>-Persistencia en Memoria: Siguiendo los requerimientos, el índice se carga completamente en RAM al iniciar el programa, evitando lecturas a disco durante las consultas para maximizar la velocidad.</a:t>
            </a:r>
          </a:p>
          <a:p>
            <a:endParaRPr lang="es-MX" sz="1300" dirty="0">
              <a:solidFill>
                <a:schemeClr val="bg1"/>
              </a:solidFill>
              <a:latin typeface="Roboto"/>
              <a:ea typeface="Roboto"/>
              <a:cs typeface="Roboto"/>
              <a:sym typeface="Roboto"/>
            </a:endParaRPr>
          </a:p>
          <a:p>
            <a:r>
              <a:rPr lang="es-MX" sz="1300" dirty="0">
                <a:solidFill>
                  <a:schemeClr val="bg1"/>
                </a:solidFill>
                <a:latin typeface="Roboto"/>
                <a:ea typeface="Roboto"/>
                <a:cs typeface="Roboto"/>
                <a:sym typeface="Roboto"/>
              </a:rPr>
              <a:t>-Implementación del Índice Invertido: Se utiliza un Diccionario (Hash </a:t>
            </a:r>
            <a:r>
              <a:rPr lang="es-MX" sz="1300" dirty="0" err="1">
                <a:solidFill>
                  <a:schemeClr val="bg1"/>
                </a:solidFill>
                <a:latin typeface="Roboto"/>
                <a:ea typeface="Roboto"/>
                <a:cs typeface="Roboto"/>
                <a:sym typeface="Roboto"/>
              </a:rPr>
              <a:t>Map</a:t>
            </a:r>
            <a:r>
              <a:rPr lang="es-MX" sz="1300" dirty="0">
                <a:solidFill>
                  <a:schemeClr val="bg1"/>
                </a:solidFill>
                <a:latin typeface="Roboto"/>
                <a:ea typeface="Roboto"/>
                <a:cs typeface="Roboto"/>
                <a:sym typeface="Roboto"/>
              </a:rPr>
              <a:t>) como estructura principal.</a:t>
            </a:r>
          </a:p>
          <a:p>
            <a:pPr marL="285750" indent="-285750">
              <a:buFont typeface="Arial" panose="020B0604020202020204" pitchFamily="34" charset="0"/>
              <a:buChar char="•"/>
            </a:pPr>
            <a:r>
              <a:rPr lang="es-MX" sz="1300" dirty="0">
                <a:solidFill>
                  <a:schemeClr val="bg1"/>
                </a:solidFill>
                <a:latin typeface="Roboto"/>
                <a:ea typeface="Roboto"/>
                <a:cs typeface="Roboto"/>
                <a:sym typeface="Roboto"/>
              </a:rPr>
              <a:t>Clave (Key): Corresponde a cada palabra única del vocabulario ($V$).</a:t>
            </a:r>
          </a:p>
          <a:p>
            <a:pPr marL="285750" indent="-285750">
              <a:buFont typeface="Arial" panose="020B0604020202020204" pitchFamily="34" charset="0"/>
              <a:buChar char="•"/>
            </a:pPr>
            <a:r>
              <a:rPr lang="es-MX" sz="1300" dirty="0">
                <a:solidFill>
                  <a:schemeClr val="bg1"/>
                </a:solidFill>
                <a:latin typeface="Roboto"/>
                <a:ea typeface="Roboto"/>
                <a:cs typeface="Roboto"/>
                <a:sym typeface="Roboto"/>
              </a:rPr>
              <a:t>Valor (</a:t>
            </a:r>
            <a:r>
              <a:rPr lang="es-MX" sz="1300" dirty="0" err="1">
                <a:solidFill>
                  <a:schemeClr val="bg1"/>
                </a:solidFill>
                <a:latin typeface="Roboto"/>
                <a:ea typeface="Roboto"/>
                <a:cs typeface="Roboto"/>
                <a:sym typeface="Roboto"/>
              </a:rPr>
              <a:t>Value</a:t>
            </a:r>
            <a:r>
              <a:rPr lang="es-MX" sz="1300" dirty="0">
                <a:solidFill>
                  <a:schemeClr val="bg1"/>
                </a:solidFill>
                <a:latin typeface="Roboto"/>
                <a:ea typeface="Roboto"/>
                <a:cs typeface="Roboto"/>
                <a:sym typeface="Roboto"/>
              </a:rPr>
              <a:t>): Corresponde a la Lista de Posteo, implementada aquí como un Conjunto (set).</a:t>
            </a:r>
          </a:p>
          <a:p>
            <a:endParaRPr lang="es-MX" sz="1300" dirty="0">
              <a:solidFill>
                <a:schemeClr val="bg1"/>
              </a:solidFill>
              <a:latin typeface="Roboto"/>
              <a:ea typeface="Roboto"/>
              <a:cs typeface="Roboto"/>
              <a:sym typeface="Roboto"/>
            </a:endParaRPr>
          </a:p>
          <a:p>
            <a:r>
              <a:rPr lang="es-MX" sz="1300" dirty="0">
                <a:solidFill>
                  <a:schemeClr val="bg1"/>
                </a:solidFill>
                <a:latin typeface="Roboto"/>
                <a:ea typeface="Roboto"/>
                <a:cs typeface="Roboto"/>
                <a:sym typeface="Roboto"/>
              </a:rPr>
              <a:t>-Uso de Conjuntos (set): Se eligió esta estructura en lugar de listas simples para garantizar que no existan </a:t>
            </a:r>
            <a:r>
              <a:rPr lang="es-MX" sz="1300" dirty="0" err="1">
                <a:solidFill>
                  <a:schemeClr val="bg1"/>
                </a:solidFill>
                <a:latin typeface="Roboto"/>
                <a:ea typeface="Roboto"/>
                <a:cs typeface="Roboto"/>
                <a:sym typeface="Roboto"/>
              </a:rPr>
              <a:t>IDs</a:t>
            </a:r>
            <a:r>
              <a:rPr lang="es-MX" sz="1300" dirty="0">
                <a:solidFill>
                  <a:schemeClr val="bg1"/>
                </a:solidFill>
                <a:latin typeface="Roboto"/>
                <a:ea typeface="Roboto"/>
                <a:cs typeface="Roboto"/>
                <a:sym typeface="Roboto"/>
              </a:rPr>
              <a:t> de documentos duplicados y para optimizar matemáticamente la operación de intersección posterior.</a:t>
            </a:r>
            <a:endParaRPr lang="es" sz="1338" dirty="0">
              <a:solidFill>
                <a:schemeClr val="bg1"/>
              </a:solidFill>
              <a:latin typeface="Roboto"/>
              <a:ea typeface="Roboto"/>
              <a:cs typeface="Roboto"/>
            </a:endParaRPr>
          </a:p>
        </p:txBody>
      </p:sp>
      <p:sp>
        <p:nvSpPr>
          <p:cNvPr id="134" name="Google Shape;134;p20">
            <a:extLst>
              <a:ext uri="{FF2B5EF4-FFF2-40B4-BE49-F238E27FC236}">
                <a16:creationId xmlns:a16="http://schemas.microsoft.com/office/drawing/2014/main" id="{86B2127D-BF46-4443-B674-601D632F7214}"/>
              </a:ext>
            </a:extLst>
          </p:cNvPr>
          <p:cNvSpPr txBox="1"/>
          <p:nvPr/>
        </p:nvSpPr>
        <p:spPr>
          <a:xfrm>
            <a:off x="729542" y="317684"/>
            <a:ext cx="7971873" cy="477054"/>
          </a:xfrm>
          <a:prstGeom prst="rect">
            <a:avLst/>
          </a:prstGeom>
          <a:noFill/>
          <a:ln>
            <a:noFill/>
          </a:ln>
        </p:spPr>
        <p:txBody>
          <a:bodyPr spcFirstLastPara="1" wrap="square" lIns="0" tIns="0" rIns="0" bIns="0" anchor="t" anchorCtr="0">
            <a:spAutoFit/>
          </a:bodyPr>
          <a:lstStyle/>
          <a:p>
            <a:r>
              <a:rPr lang="es" sz="3100" i="0" u="none" strike="noStrike" cap="none" dirty="0">
                <a:solidFill>
                  <a:srgbClr val="FFFFFF"/>
                </a:solidFill>
                <a:latin typeface="Montserrat ExtraBold"/>
                <a:ea typeface="Montserrat ExtraBold"/>
              </a:rPr>
              <a:t>Lógica de Búsqueda</a:t>
            </a:r>
          </a:p>
        </p:txBody>
      </p:sp>
      <p:sp>
        <p:nvSpPr>
          <p:cNvPr id="135" name="Google Shape;135;p20">
            <a:extLst>
              <a:ext uri="{FF2B5EF4-FFF2-40B4-BE49-F238E27FC236}">
                <a16:creationId xmlns:a16="http://schemas.microsoft.com/office/drawing/2014/main" id="{E1FC3129-C2EC-FA9A-5765-4A31BF9904CD}"/>
              </a:ext>
            </a:extLst>
          </p:cNvPr>
          <p:cNvSpPr/>
          <p:nvPr/>
        </p:nvSpPr>
        <p:spPr>
          <a:xfrm>
            <a:off x="7892034" y="4670729"/>
            <a:ext cx="1151847" cy="372310"/>
          </a:xfrm>
          <a:custGeom>
            <a:avLst/>
            <a:gdLst/>
            <a:ahLst/>
            <a:cxnLst/>
            <a:rect l="l" t="t" r="r" b="b"/>
            <a:pathLst>
              <a:path w="1481475" h="529979" extrusionOk="0">
                <a:moveTo>
                  <a:pt x="0" y="0"/>
                </a:moveTo>
                <a:lnTo>
                  <a:pt x="1481475" y="0"/>
                </a:lnTo>
                <a:lnTo>
                  <a:pt x="1481475" y="529979"/>
                </a:lnTo>
                <a:lnTo>
                  <a:pt x="0" y="529979"/>
                </a:lnTo>
                <a:lnTo>
                  <a:pt x="0" y="0"/>
                </a:lnTo>
                <a:close/>
              </a:path>
            </a:pathLst>
          </a:custGeom>
          <a:blipFill rotWithShape="1">
            <a:blip r:embed="rId3">
              <a:alphaModFix/>
            </a:blip>
            <a:stretch>
              <a:fillRect l="-579" b="-25708"/>
            </a:stretch>
          </a:blipFill>
          <a:ln>
            <a:noFill/>
          </a:ln>
        </p:spPr>
        <p:txBody>
          <a:bodyPr/>
          <a:lstStyle/>
          <a:p>
            <a:endParaRPr lang="es-CL"/>
          </a:p>
        </p:txBody>
      </p:sp>
      <p:pic>
        <p:nvPicPr>
          <p:cNvPr id="6" name="Imagen 5">
            <a:extLst>
              <a:ext uri="{FF2B5EF4-FFF2-40B4-BE49-F238E27FC236}">
                <a16:creationId xmlns:a16="http://schemas.microsoft.com/office/drawing/2014/main" id="{FBD6D705-D3E8-765C-0DED-80F4FE93DCBC}"/>
              </a:ext>
            </a:extLst>
          </p:cNvPr>
          <p:cNvPicPr>
            <a:picLocks noChangeAspect="1"/>
          </p:cNvPicPr>
          <p:nvPr/>
        </p:nvPicPr>
        <p:blipFill>
          <a:blip r:embed="rId4"/>
          <a:stretch>
            <a:fillRect/>
          </a:stretch>
        </p:blipFill>
        <p:spPr>
          <a:xfrm>
            <a:off x="4371664" y="1231488"/>
            <a:ext cx="4604706" cy="2530190"/>
          </a:xfrm>
          <a:prstGeom prst="rect">
            <a:avLst/>
          </a:prstGeom>
        </p:spPr>
      </p:pic>
    </p:spTree>
    <p:extLst>
      <p:ext uri="{BB962C8B-B14F-4D97-AF65-F5344CB8AC3E}">
        <p14:creationId xmlns:p14="http://schemas.microsoft.com/office/powerpoint/2010/main" val="3223582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93B"/>
        </a:solidFill>
        <a:effectLst/>
      </p:bgPr>
    </p:bg>
    <p:spTree>
      <p:nvGrpSpPr>
        <p:cNvPr id="1" name="Shape 131">
          <a:extLst>
            <a:ext uri="{FF2B5EF4-FFF2-40B4-BE49-F238E27FC236}">
              <a16:creationId xmlns:a16="http://schemas.microsoft.com/office/drawing/2014/main" id="{CA49D945-B984-02AA-76DF-1B76475676F1}"/>
            </a:ext>
          </a:extLst>
        </p:cNvPr>
        <p:cNvGrpSpPr/>
        <p:nvPr/>
      </p:nvGrpSpPr>
      <p:grpSpPr>
        <a:xfrm>
          <a:off x="0" y="0"/>
          <a:ext cx="0" cy="0"/>
          <a:chOff x="0" y="0"/>
          <a:chExt cx="0" cy="0"/>
        </a:xfrm>
      </p:grpSpPr>
      <p:sp>
        <p:nvSpPr>
          <p:cNvPr id="133" name="Google Shape;133;p20">
            <a:extLst>
              <a:ext uri="{FF2B5EF4-FFF2-40B4-BE49-F238E27FC236}">
                <a16:creationId xmlns:a16="http://schemas.microsoft.com/office/drawing/2014/main" id="{654CC696-F0E5-9DC1-CA18-371BF5951E0C}"/>
              </a:ext>
            </a:extLst>
          </p:cNvPr>
          <p:cNvSpPr txBox="1"/>
          <p:nvPr/>
        </p:nvSpPr>
        <p:spPr>
          <a:xfrm>
            <a:off x="439182" y="905915"/>
            <a:ext cx="3872624" cy="3400931"/>
          </a:xfrm>
          <a:prstGeom prst="rect">
            <a:avLst/>
          </a:prstGeom>
          <a:noFill/>
          <a:ln>
            <a:noFill/>
          </a:ln>
        </p:spPr>
        <p:txBody>
          <a:bodyPr spcFirstLastPara="1" wrap="square" lIns="0" tIns="0" rIns="0" bIns="0" anchor="t" anchorCtr="0">
            <a:spAutoFit/>
          </a:bodyPr>
          <a:lstStyle/>
          <a:p>
            <a:r>
              <a:rPr lang="es-MX" sz="1300" dirty="0">
                <a:solidFill>
                  <a:schemeClr val="bg1"/>
                </a:solidFill>
                <a:latin typeface="Roboto"/>
                <a:ea typeface="Roboto"/>
                <a:cs typeface="Roboto"/>
                <a:sym typeface="Roboto"/>
              </a:rPr>
              <a:t>-Lógica Booleana (AND): El algoritmo implementa una búsqueda conjuntiva estricta. Un documento solo es considerado un resultado válido si contiene todos los términos ingresados en la consulta.</a:t>
            </a:r>
          </a:p>
          <a:p>
            <a:endParaRPr lang="es-MX" sz="1300" dirty="0">
              <a:solidFill>
                <a:schemeClr val="bg1"/>
              </a:solidFill>
              <a:latin typeface="Roboto"/>
              <a:ea typeface="Roboto"/>
              <a:cs typeface="Roboto"/>
              <a:sym typeface="Roboto"/>
            </a:endParaRPr>
          </a:p>
          <a:p>
            <a:r>
              <a:rPr lang="es-MX" sz="1300" dirty="0">
                <a:solidFill>
                  <a:schemeClr val="bg1"/>
                </a:solidFill>
                <a:latin typeface="Roboto"/>
                <a:ea typeface="Roboto"/>
                <a:cs typeface="Roboto"/>
                <a:sym typeface="Roboto"/>
              </a:rPr>
              <a:t>-Operación de Conjuntos: </a:t>
            </a:r>
          </a:p>
          <a:p>
            <a:pPr marL="285750" indent="-285750">
              <a:buFont typeface="Arial" panose="020B0604020202020204" pitchFamily="34" charset="0"/>
              <a:buChar char="•"/>
            </a:pPr>
            <a:r>
              <a:rPr lang="es-MX" sz="1300" dirty="0">
                <a:solidFill>
                  <a:schemeClr val="bg1"/>
                </a:solidFill>
                <a:latin typeface="Roboto"/>
                <a:ea typeface="Roboto"/>
                <a:cs typeface="Roboto"/>
                <a:sym typeface="Roboto"/>
              </a:rPr>
              <a:t>Se recupera el conjunto de documentos del primer término (</a:t>
            </a:r>
            <a:r>
              <a:rPr lang="es-MX" sz="1300" dirty="0" err="1">
                <a:solidFill>
                  <a:schemeClr val="bg1"/>
                </a:solidFill>
                <a:latin typeface="Roboto"/>
                <a:ea typeface="Roboto"/>
                <a:cs typeface="Roboto"/>
                <a:sym typeface="Roboto"/>
              </a:rPr>
              <a:t>indice.get</a:t>
            </a:r>
            <a:r>
              <a:rPr lang="es-MX" sz="1300" dirty="0">
                <a:solidFill>
                  <a:schemeClr val="bg1"/>
                </a:solidFill>
                <a:latin typeface="Roboto"/>
                <a:ea typeface="Roboto"/>
                <a:cs typeface="Roboto"/>
                <a:sym typeface="Roboto"/>
              </a:rPr>
              <a:t>). </a:t>
            </a:r>
          </a:p>
          <a:p>
            <a:pPr marL="285750" indent="-285750">
              <a:buFont typeface="Arial" panose="020B0604020202020204" pitchFamily="34" charset="0"/>
              <a:buChar char="•"/>
            </a:pPr>
            <a:r>
              <a:rPr lang="es-MX" sz="1300" dirty="0">
                <a:solidFill>
                  <a:schemeClr val="bg1"/>
                </a:solidFill>
                <a:latin typeface="Roboto"/>
                <a:ea typeface="Roboto"/>
                <a:cs typeface="Roboto"/>
                <a:sym typeface="Roboto"/>
              </a:rPr>
              <a:t>Se itera sobre los términos restantes, aplicando la operación matemática de Intersección (</a:t>
            </a:r>
            <a:r>
              <a:rPr lang="es-MX" sz="1300" dirty="0" err="1">
                <a:solidFill>
                  <a:schemeClr val="bg1"/>
                </a:solidFill>
                <a:latin typeface="Roboto"/>
                <a:ea typeface="Roboto"/>
                <a:cs typeface="Roboto"/>
                <a:sym typeface="Roboto"/>
              </a:rPr>
              <a:t>intersection</a:t>
            </a:r>
            <a:r>
              <a:rPr lang="es-MX" sz="1300" dirty="0">
                <a:solidFill>
                  <a:schemeClr val="bg1"/>
                </a:solidFill>
                <a:latin typeface="Roboto"/>
                <a:ea typeface="Roboto"/>
                <a:cs typeface="Roboto"/>
                <a:sym typeface="Roboto"/>
              </a:rPr>
              <a:t>) en cada paso. </a:t>
            </a:r>
          </a:p>
          <a:p>
            <a:endParaRPr lang="es-MX" sz="1300" dirty="0">
              <a:solidFill>
                <a:schemeClr val="bg1"/>
              </a:solidFill>
              <a:latin typeface="Roboto"/>
              <a:ea typeface="Roboto"/>
              <a:cs typeface="Roboto"/>
              <a:sym typeface="Roboto"/>
            </a:endParaRPr>
          </a:p>
          <a:p>
            <a:r>
              <a:rPr lang="es-MX" sz="1300" dirty="0">
                <a:solidFill>
                  <a:schemeClr val="bg1"/>
                </a:solidFill>
                <a:latin typeface="Roboto"/>
                <a:ea typeface="Roboto"/>
                <a:cs typeface="Roboto"/>
                <a:sym typeface="Roboto"/>
              </a:rPr>
              <a:t>-Reducción del Espacio de Búsqueda: Esta estrategia filtra progresivamente los candidatos, asegurando que el resultado final cumpla con la restricción de coincidencia total descrita en el problema.</a:t>
            </a:r>
            <a:endParaRPr lang="es" sz="1338" dirty="0">
              <a:solidFill>
                <a:schemeClr val="bg1"/>
              </a:solidFill>
              <a:latin typeface="Roboto"/>
              <a:ea typeface="Roboto"/>
              <a:cs typeface="Roboto"/>
            </a:endParaRPr>
          </a:p>
        </p:txBody>
      </p:sp>
      <p:sp>
        <p:nvSpPr>
          <p:cNvPr id="134" name="Google Shape;134;p20">
            <a:extLst>
              <a:ext uri="{FF2B5EF4-FFF2-40B4-BE49-F238E27FC236}">
                <a16:creationId xmlns:a16="http://schemas.microsoft.com/office/drawing/2014/main" id="{B2DC7817-B019-A564-160F-BDAA73ACDC41}"/>
              </a:ext>
            </a:extLst>
          </p:cNvPr>
          <p:cNvSpPr txBox="1"/>
          <p:nvPr/>
        </p:nvSpPr>
        <p:spPr>
          <a:xfrm>
            <a:off x="729542" y="317684"/>
            <a:ext cx="7971873" cy="477054"/>
          </a:xfrm>
          <a:prstGeom prst="rect">
            <a:avLst/>
          </a:prstGeom>
          <a:noFill/>
          <a:ln>
            <a:noFill/>
          </a:ln>
        </p:spPr>
        <p:txBody>
          <a:bodyPr spcFirstLastPara="1" wrap="square" lIns="0" tIns="0" rIns="0" bIns="0" anchor="t" anchorCtr="0">
            <a:spAutoFit/>
          </a:bodyPr>
          <a:lstStyle/>
          <a:p>
            <a:r>
              <a:rPr lang="es" sz="3100" i="0" u="none" strike="noStrike" cap="none" dirty="0">
                <a:solidFill>
                  <a:srgbClr val="FFFFFF"/>
                </a:solidFill>
                <a:latin typeface="Montserrat ExtraBold"/>
                <a:ea typeface="Montserrat ExtraBold"/>
              </a:rPr>
              <a:t>Lógica de Búsqueda</a:t>
            </a:r>
          </a:p>
        </p:txBody>
      </p:sp>
      <p:sp>
        <p:nvSpPr>
          <p:cNvPr id="135" name="Google Shape;135;p20">
            <a:extLst>
              <a:ext uri="{FF2B5EF4-FFF2-40B4-BE49-F238E27FC236}">
                <a16:creationId xmlns:a16="http://schemas.microsoft.com/office/drawing/2014/main" id="{8AABF240-77A5-F267-1A0B-19B559A8C9C7}"/>
              </a:ext>
            </a:extLst>
          </p:cNvPr>
          <p:cNvSpPr/>
          <p:nvPr/>
        </p:nvSpPr>
        <p:spPr>
          <a:xfrm>
            <a:off x="7892034" y="4670729"/>
            <a:ext cx="1151847" cy="372310"/>
          </a:xfrm>
          <a:custGeom>
            <a:avLst/>
            <a:gdLst/>
            <a:ahLst/>
            <a:cxnLst/>
            <a:rect l="l" t="t" r="r" b="b"/>
            <a:pathLst>
              <a:path w="1481475" h="529979" extrusionOk="0">
                <a:moveTo>
                  <a:pt x="0" y="0"/>
                </a:moveTo>
                <a:lnTo>
                  <a:pt x="1481475" y="0"/>
                </a:lnTo>
                <a:lnTo>
                  <a:pt x="1481475" y="529979"/>
                </a:lnTo>
                <a:lnTo>
                  <a:pt x="0" y="529979"/>
                </a:lnTo>
                <a:lnTo>
                  <a:pt x="0" y="0"/>
                </a:lnTo>
                <a:close/>
              </a:path>
            </a:pathLst>
          </a:custGeom>
          <a:blipFill rotWithShape="1">
            <a:blip r:embed="rId3">
              <a:alphaModFix/>
            </a:blip>
            <a:stretch>
              <a:fillRect l="-579" b="-25708"/>
            </a:stretch>
          </a:blipFill>
          <a:ln>
            <a:noFill/>
          </a:ln>
        </p:spPr>
        <p:txBody>
          <a:bodyPr/>
          <a:lstStyle/>
          <a:p>
            <a:endParaRPr lang="es-CL"/>
          </a:p>
        </p:txBody>
      </p:sp>
      <p:pic>
        <p:nvPicPr>
          <p:cNvPr id="3" name="Imagen 2">
            <a:extLst>
              <a:ext uri="{FF2B5EF4-FFF2-40B4-BE49-F238E27FC236}">
                <a16:creationId xmlns:a16="http://schemas.microsoft.com/office/drawing/2014/main" id="{B878CA9B-6CF5-AA1C-7DB0-2109DC7E379F}"/>
              </a:ext>
            </a:extLst>
          </p:cNvPr>
          <p:cNvPicPr>
            <a:picLocks noChangeAspect="1"/>
          </p:cNvPicPr>
          <p:nvPr/>
        </p:nvPicPr>
        <p:blipFill>
          <a:blip r:embed="rId4"/>
          <a:stretch>
            <a:fillRect/>
          </a:stretch>
        </p:blipFill>
        <p:spPr>
          <a:xfrm>
            <a:off x="4311806" y="1144858"/>
            <a:ext cx="4724106" cy="2649607"/>
          </a:xfrm>
          <a:prstGeom prst="rect">
            <a:avLst/>
          </a:prstGeom>
        </p:spPr>
      </p:pic>
    </p:spTree>
    <p:extLst>
      <p:ext uri="{BB962C8B-B14F-4D97-AF65-F5344CB8AC3E}">
        <p14:creationId xmlns:p14="http://schemas.microsoft.com/office/powerpoint/2010/main" val="2282916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93B"/>
        </a:solidFill>
        <a:effectLst/>
      </p:bgPr>
    </p:bg>
    <p:spTree>
      <p:nvGrpSpPr>
        <p:cNvPr id="1" name="Shape 131">
          <a:extLst>
            <a:ext uri="{FF2B5EF4-FFF2-40B4-BE49-F238E27FC236}">
              <a16:creationId xmlns:a16="http://schemas.microsoft.com/office/drawing/2014/main" id="{BF31F626-A0D3-49E7-92E9-59A7F89D6891}"/>
            </a:ext>
          </a:extLst>
        </p:cNvPr>
        <p:cNvGrpSpPr/>
        <p:nvPr/>
      </p:nvGrpSpPr>
      <p:grpSpPr>
        <a:xfrm>
          <a:off x="0" y="0"/>
          <a:ext cx="0" cy="0"/>
          <a:chOff x="0" y="0"/>
          <a:chExt cx="0" cy="0"/>
        </a:xfrm>
      </p:grpSpPr>
      <p:sp>
        <p:nvSpPr>
          <p:cNvPr id="133" name="Google Shape;133;p20">
            <a:extLst>
              <a:ext uri="{FF2B5EF4-FFF2-40B4-BE49-F238E27FC236}">
                <a16:creationId xmlns:a16="http://schemas.microsoft.com/office/drawing/2014/main" id="{1C36E6BB-A6AC-06E9-D05A-6424A12D4C56}"/>
              </a:ext>
            </a:extLst>
          </p:cNvPr>
          <p:cNvSpPr txBox="1"/>
          <p:nvPr/>
        </p:nvSpPr>
        <p:spPr>
          <a:xfrm>
            <a:off x="439182" y="905915"/>
            <a:ext cx="3872624" cy="3801041"/>
          </a:xfrm>
          <a:prstGeom prst="rect">
            <a:avLst/>
          </a:prstGeom>
          <a:noFill/>
          <a:ln>
            <a:noFill/>
          </a:ln>
        </p:spPr>
        <p:txBody>
          <a:bodyPr spcFirstLastPara="1" wrap="square" lIns="0" tIns="0" rIns="0" bIns="0" anchor="t" anchorCtr="0">
            <a:spAutoFit/>
          </a:bodyPr>
          <a:lstStyle/>
          <a:p>
            <a:r>
              <a:rPr lang="es-MX" sz="1300" dirty="0">
                <a:solidFill>
                  <a:schemeClr val="bg1"/>
                </a:solidFill>
                <a:latin typeface="Roboto"/>
                <a:ea typeface="Roboto"/>
                <a:cs typeface="Roboto"/>
                <a:sym typeface="Roboto"/>
              </a:rPr>
              <a:t>-Lógica Conjuntiva (AND): El motor implementa una búsqueda estricta. Un documento solo es relevante si contiene todos los términos de la consulta, descartando coincidencias parciales. </a:t>
            </a:r>
          </a:p>
          <a:p>
            <a:endParaRPr lang="es-MX" sz="1300" dirty="0">
              <a:solidFill>
                <a:schemeClr val="bg1"/>
              </a:solidFill>
              <a:latin typeface="Roboto"/>
              <a:ea typeface="Roboto"/>
              <a:cs typeface="Roboto"/>
              <a:sym typeface="Roboto"/>
            </a:endParaRPr>
          </a:p>
          <a:p>
            <a:r>
              <a:rPr lang="es-MX" sz="1300" dirty="0">
                <a:solidFill>
                  <a:schemeClr val="bg1"/>
                </a:solidFill>
                <a:latin typeface="Roboto"/>
                <a:ea typeface="Roboto"/>
                <a:cs typeface="Roboto"/>
                <a:sym typeface="Roboto"/>
              </a:rPr>
              <a:t>-Algoritmo de Intersección: </a:t>
            </a:r>
          </a:p>
          <a:p>
            <a:pPr marL="285750" indent="-285750">
              <a:buFont typeface="Arial" panose="020B0604020202020204" pitchFamily="34" charset="0"/>
              <a:buChar char="•"/>
            </a:pPr>
            <a:r>
              <a:rPr lang="es-MX" sz="1300" dirty="0">
                <a:solidFill>
                  <a:schemeClr val="bg1"/>
                </a:solidFill>
                <a:latin typeface="Roboto"/>
                <a:ea typeface="Roboto"/>
                <a:cs typeface="Roboto"/>
                <a:sym typeface="Roboto"/>
              </a:rPr>
              <a:t>Inicialización: Se recupera el conjunto de documentos asociado al primer término de la consulta (</a:t>
            </a:r>
            <a:r>
              <a:rPr lang="es-MX" sz="1300" dirty="0" err="1">
                <a:solidFill>
                  <a:schemeClr val="bg1"/>
                </a:solidFill>
                <a:latin typeface="Roboto"/>
                <a:ea typeface="Roboto"/>
                <a:cs typeface="Roboto"/>
                <a:sym typeface="Roboto"/>
              </a:rPr>
              <a:t>indice.get</a:t>
            </a:r>
            <a:r>
              <a:rPr lang="es-MX" sz="1300" dirty="0">
                <a:solidFill>
                  <a:schemeClr val="bg1"/>
                </a:solidFill>
                <a:latin typeface="Roboto"/>
                <a:ea typeface="Roboto"/>
                <a:cs typeface="Roboto"/>
                <a:sym typeface="Roboto"/>
              </a:rPr>
              <a:t>). </a:t>
            </a:r>
          </a:p>
          <a:p>
            <a:pPr marL="285750" indent="-285750">
              <a:buFont typeface="Arial" panose="020B0604020202020204" pitchFamily="34" charset="0"/>
              <a:buChar char="•"/>
            </a:pPr>
            <a:r>
              <a:rPr lang="es-MX" sz="1300" dirty="0">
                <a:solidFill>
                  <a:schemeClr val="bg1"/>
                </a:solidFill>
                <a:latin typeface="Roboto"/>
                <a:ea typeface="Roboto"/>
                <a:cs typeface="Roboto"/>
                <a:sym typeface="Roboto"/>
              </a:rPr>
              <a:t>Filtrado Progresivo: Se itera sobre los términos restantes, actualizando el conjunto de resultados mediante la operación matemática de Intersección (</a:t>
            </a:r>
            <a:r>
              <a:rPr lang="es-MX" sz="1300" dirty="0" err="1">
                <a:solidFill>
                  <a:schemeClr val="bg1"/>
                </a:solidFill>
                <a:latin typeface="Roboto"/>
                <a:ea typeface="Roboto"/>
                <a:cs typeface="Roboto"/>
                <a:sym typeface="Roboto"/>
              </a:rPr>
              <a:t>intersection</a:t>
            </a:r>
            <a:r>
              <a:rPr lang="es-MX" sz="1300" dirty="0">
                <a:solidFill>
                  <a:schemeClr val="bg1"/>
                </a:solidFill>
                <a:latin typeface="Roboto"/>
                <a:ea typeface="Roboto"/>
                <a:cs typeface="Roboto"/>
                <a:sym typeface="Roboto"/>
              </a:rPr>
              <a:t>). </a:t>
            </a:r>
          </a:p>
          <a:p>
            <a:endParaRPr lang="es-MX" sz="1300" dirty="0">
              <a:solidFill>
                <a:schemeClr val="bg1"/>
              </a:solidFill>
              <a:latin typeface="Roboto"/>
              <a:ea typeface="Roboto"/>
              <a:cs typeface="Roboto"/>
              <a:sym typeface="Roboto"/>
            </a:endParaRPr>
          </a:p>
          <a:p>
            <a:r>
              <a:rPr lang="es-MX" sz="1300" dirty="0">
                <a:solidFill>
                  <a:schemeClr val="bg1"/>
                </a:solidFill>
                <a:latin typeface="Roboto"/>
                <a:ea typeface="Roboto"/>
                <a:cs typeface="Roboto"/>
                <a:sym typeface="Roboto"/>
              </a:rPr>
              <a:t>-Eficiencia: Al reducir el espacio de búsqueda en cada paso, se garantiza que el resultado final cumpla con la restricción de coincidencia total sin necesidad de verificar documento por documento manualmente.</a:t>
            </a:r>
            <a:endParaRPr lang="es" sz="1338" dirty="0">
              <a:solidFill>
                <a:schemeClr val="bg1"/>
              </a:solidFill>
              <a:latin typeface="Roboto"/>
              <a:ea typeface="Roboto"/>
              <a:cs typeface="Roboto"/>
            </a:endParaRPr>
          </a:p>
        </p:txBody>
      </p:sp>
      <p:sp>
        <p:nvSpPr>
          <p:cNvPr id="134" name="Google Shape;134;p20">
            <a:extLst>
              <a:ext uri="{FF2B5EF4-FFF2-40B4-BE49-F238E27FC236}">
                <a16:creationId xmlns:a16="http://schemas.microsoft.com/office/drawing/2014/main" id="{A0D3B267-546B-8440-05D6-7355486A5CDD}"/>
              </a:ext>
            </a:extLst>
          </p:cNvPr>
          <p:cNvSpPr txBox="1"/>
          <p:nvPr/>
        </p:nvSpPr>
        <p:spPr>
          <a:xfrm>
            <a:off x="729542" y="317684"/>
            <a:ext cx="7971873" cy="477054"/>
          </a:xfrm>
          <a:prstGeom prst="rect">
            <a:avLst/>
          </a:prstGeom>
          <a:noFill/>
          <a:ln>
            <a:noFill/>
          </a:ln>
        </p:spPr>
        <p:txBody>
          <a:bodyPr spcFirstLastPara="1" wrap="square" lIns="0" tIns="0" rIns="0" bIns="0" anchor="t" anchorCtr="0">
            <a:spAutoFit/>
          </a:bodyPr>
          <a:lstStyle/>
          <a:p>
            <a:r>
              <a:rPr lang="es" sz="3100" i="0" u="none" strike="noStrike" cap="none" dirty="0">
                <a:solidFill>
                  <a:srgbClr val="FFFFFF"/>
                </a:solidFill>
                <a:latin typeface="Montserrat ExtraBold"/>
                <a:ea typeface="Montserrat ExtraBold"/>
              </a:rPr>
              <a:t>Lógica de Búsqueda</a:t>
            </a:r>
          </a:p>
        </p:txBody>
      </p:sp>
      <p:sp>
        <p:nvSpPr>
          <p:cNvPr id="135" name="Google Shape;135;p20">
            <a:extLst>
              <a:ext uri="{FF2B5EF4-FFF2-40B4-BE49-F238E27FC236}">
                <a16:creationId xmlns:a16="http://schemas.microsoft.com/office/drawing/2014/main" id="{1AABB3EC-B924-223C-D1C8-7D3EDB0D4DEE}"/>
              </a:ext>
            </a:extLst>
          </p:cNvPr>
          <p:cNvSpPr/>
          <p:nvPr/>
        </p:nvSpPr>
        <p:spPr>
          <a:xfrm>
            <a:off x="7892034" y="4670729"/>
            <a:ext cx="1151847" cy="372310"/>
          </a:xfrm>
          <a:custGeom>
            <a:avLst/>
            <a:gdLst/>
            <a:ahLst/>
            <a:cxnLst/>
            <a:rect l="l" t="t" r="r" b="b"/>
            <a:pathLst>
              <a:path w="1481475" h="529979" extrusionOk="0">
                <a:moveTo>
                  <a:pt x="0" y="0"/>
                </a:moveTo>
                <a:lnTo>
                  <a:pt x="1481475" y="0"/>
                </a:lnTo>
                <a:lnTo>
                  <a:pt x="1481475" y="529979"/>
                </a:lnTo>
                <a:lnTo>
                  <a:pt x="0" y="529979"/>
                </a:lnTo>
                <a:lnTo>
                  <a:pt x="0" y="0"/>
                </a:lnTo>
                <a:close/>
              </a:path>
            </a:pathLst>
          </a:custGeom>
          <a:blipFill rotWithShape="1">
            <a:blip r:embed="rId3">
              <a:alphaModFix/>
            </a:blip>
            <a:stretch>
              <a:fillRect l="-579" b="-25708"/>
            </a:stretch>
          </a:blipFill>
          <a:ln>
            <a:noFill/>
          </a:ln>
        </p:spPr>
        <p:txBody>
          <a:bodyPr/>
          <a:lstStyle/>
          <a:p>
            <a:endParaRPr lang="es-CL"/>
          </a:p>
        </p:txBody>
      </p:sp>
      <p:pic>
        <p:nvPicPr>
          <p:cNvPr id="6" name="Imagen 5">
            <a:extLst>
              <a:ext uri="{FF2B5EF4-FFF2-40B4-BE49-F238E27FC236}">
                <a16:creationId xmlns:a16="http://schemas.microsoft.com/office/drawing/2014/main" id="{CC0EA3A4-BCF3-F5EE-C656-AAFDC5A41E68}"/>
              </a:ext>
            </a:extLst>
          </p:cNvPr>
          <p:cNvPicPr>
            <a:picLocks noChangeAspect="1"/>
          </p:cNvPicPr>
          <p:nvPr/>
        </p:nvPicPr>
        <p:blipFill>
          <a:blip r:embed="rId4"/>
          <a:stretch>
            <a:fillRect/>
          </a:stretch>
        </p:blipFill>
        <p:spPr>
          <a:xfrm>
            <a:off x="4311806" y="1174595"/>
            <a:ext cx="4526314" cy="2608812"/>
          </a:xfrm>
          <a:prstGeom prst="rect">
            <a:avLst/>
          </a:prstGeom>
        </p:spPr>
      </p:pic>
    </p:spTree>
    <p:extLst>
      <p:ext uri="{BB962C8B-B14F-4D97-AF65-F5344CB8AC3E}">
        <p14:creationId xmlns:p14="http://schemas.microsoft.com/office/powerpoint/2010/main" val="2059503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93B"/>
        </a:solidFill>
        <a:effectLst/>
      </p:bgPr>
    </p:bg>
    <p:spTree>
      <p:nvGrpSpPr>
        <p:cNvPr id="1" name="Shape 139">
          <a:extLst>
            <a:ext uri="{FF2B5EF4-FFF2-40B4-BE49-F238E27FC236}">
              <a16:creationId xmlns:a16="http://schemas.microsoft.com/office/drawing/2014/main" id="{F44CD01A-6E73-1399-BE92-BCCDD8D67C7F}"/>
            </a:ext>
          </a:extLst>
        </p:cNvPr>
        <p:cNvGrpSpPr/>
        <p:nvPr/>
      </p:nvGrpSpPr>
      <p:grpSpPr>
        <a:xfrm>
          <a:off x="0" y="0"/>
          <a:ext cx="0" cy="0"/>
          <a:chOff x="0" y="0"/>
          <a:chExt cx="0" cy="0"/>
        </a:xfrm>
      </p:grpSpPr>
      <p:pic>
        <p:nvPicPr>
          <p:cNvPr id="140" name="Google Shape;140;p21">
            <a:extLst>
              <a:ext uri="{FF2B5EF4-FFF2-40B4-BE49-F238E27FC236}">
                <a16:creationId xmlns:a16="http://schemas.microsoft.com/office/drawing/2014/main" id="{311DEAFD-1A8C-9966-123C-A35F2F55BB49}"/>
              </a:ext>
            </a:extLst>
          </p:cNvPr>
          <p:cNvPicPr preferRelativeResize="0"/>
          <p:nvPr/>
        </p:nvPicPr>
        <p:blipFill>
          <a:blip r:embed="rId3">
            <a:alphaModFix amt="55000"/>
          </a:blip>
          <a:stretch>
            <a:fillRect/>
          </a:stretch>
        </p:blipFill>
        <p:spPr>
          <a:xfrm>
            <a:off x="8" y="13"/>
            <a:ext cx="9144003" cy="5143484"/>
          </a:xfrm>
          <a:prstGeom prst="rect">
            <a:avLst/>
          </a:prstGeom>
          <a:noFill/>
          <a:ln>
            <a:noFill/>
          </a:ln>
        </p:spPr>
      </p:pic>
      <p:sp>
        <p:nvSpPr>
          <p:cNvPr id="141" name="Google Shape;141;p21">
            <a:extLst>
              <a:ext uri="{FF2B5EF4-FFF2-40B4-BE49-F238E27FC236}">
                <a16:creationId xmlns:a16="http://schemas.microsoft.com/office/drawing/2014/main" id="{6CB20A3C-0479-FCDA-839A-9FAC3D7E76BE}"/>
              </a:ext>
            </a:extLst>
          </p:cNvPr>
          <p:cNvSpPr txBox="1"/>
          <p:nvPr/>
        </p:nvSpPr>
        <p:spPr>
          <a:xfrm>
            <a:off x="2104795" y="2008496"/>
            <a:ext cx="4934400" cy="573619"/>
          </a:xfrm>
          <a:prstGeom prst="rect">
            <a:avLst/>
          </a:prstGeom>
          <a:noFill/>
          <a:ln>
            <a:noFill/>
          </a:ln>
        </p:spPr>
        <p:txBody>
          <a:bodyPr spcFirstLastPara="1" wrap="square" lIns="0" tIns="0" rIns="0" bIns="0" anchor="t" anchorCtr="0">
            <a:spAutoFit/>
          </a:bodyPr>
          <a:lstStyle/>
          <a:p>
            <a:pPr algn="ctr">
              <a:lnSpc>
                <a:spcPct val="104983"/>
              </a:lnSpc>
            </a:pPr>
            <a:r>
              <a:rPr lang="es" sz="3550">
                <a:solidFill>
                  <a:srgbClr val="FFFFFF"/>
                </a:solidFill>
                <a:latin typeface="Montserrat ExtraBold"/>
                <a:ea typeface="Roboto"/>
                <a:sym typeface="Montserrat ExtraBold"/>
              </a:rPr>
              <a:t>Resultados</a:t>
            </a:r>
            <a:endParaRPr lang="es-ES"/>
          </a:p>
        </p:txBody>
      </p:sp>
      <p:sp>
        <p:nvSpPr>
          <p:cNvPr id="142" name="Google Shape;142;p21">
            <a:extLst>
              <a:ext uri="{FF2B5EF4-FFF2-40B4-BE49-F238E27FC236}">
                <a16:creationId xmlns:a16="http://schemas.microsoft.com/office/drawing/2014/main" id="{37BE7B7B-29FC-D34C-9577-9B45A59AA743}"/>
              </a:ext>
            </a:extLst>
          </p:cNvPr>
          <p:cNvSpPr/>
          <p:nvPr/>
        </p:nvSpPr>
        <p:spPr>
          <a:xfrm>
            <a:off x="7892034" y="4670729"/>
            <a:ext cx="1151847" cy="372310"/>
          </a:xfrm>
          <a:custGeom>
            <a:avLst/>
            <a:gdLst/>
            <a:ahLst/>
            <a:cxnLst/>
            <a:rect l="l" t="t" r="r" b="b"/>
            <a:pathLst>
              <a:path w="1481475" h="529979" extrusionOk="0">
                <a:moveTo>
                  <a:pt x="0" y="0"/>
                </a:moveTo>
                <a:lnTo>
                  <a:pt x="1481475" y="0"/>
                </a:lnTo>
                <a:lnTo>
                  <a:pt x="1481475" y="529979"/>
                </a:lnTo>
                <a:lnTo>
                  <a:pt x="0" y="529979"/>
                </a:lnTo>
                <a:lnTo>
                  <a:pt x="0" y="0"/>
                </a:lnTo>
                <a:close/>
              </a:path>
            </a:pathLst>
          </a:custGeom>
          <a:blipFill rotWithShape="1">
            <a:blip r:embed="rId4">
              <a:alphaModFix/>
            </a:blip>
            <a:stretch>
              <a:fillRect l="-579" b="-25708"/>
            </a:stretch>
          </a:blipFill>
          <a:ln>
            <a:noFill/>
          </a:ln>
        </p:spPr>
        <p:txBody>
          <a:bodyPr/>
          <a:lstStyle/>
          <a:p>
            <a:endParaRPr lang="es-CL"/>
          </a:p>
        </p:txBody>
      </p:sp>
    </p:spTree>
    <p:extLst>
      <p:ext uri="{BB962C8B-B14F-4D97-AF65-F5344CB8AC3E}">
        <p14:creationId xmlns:p14="http://schemas.microsoft.com/office/powerpoint/2010/main" val="38179780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293B"/>
        </a:solidFill>
        <a:effectLst/>
      </p:bgPr>
    </p:bg>
    <p:spTree>
      <p:nvGrpSpPr>
        <p:cNvPr id="1" name="Shape 146">
          <a:extLst>
            <a:ext uri="{FF2B5EF4-FFF2-40B4-BE49-F238E27FC236}">
              <a16:creationId xmlns:a16="http://schemas.microsoft.com/office/drawing/2014/main" id="{357BC12A-3954-221B-E633-D8F48F283BCC}"/>
            </a:ext>
          </a:extLst>
        </p:cNvPr>
        <p:cNvGrpSpPr/>
        <p:nvPr/>
      </p:nvGrpSpPr>
      <p:grpSpPr>
        <a:xfrm>
          <a:off x="0" y="0"/>
          <a:ext cx="0" cy="0"/>
          <a:chOff x="0" y="0"/>
          <a:chExt cx="0" cy="0"/>
        </a:xfrm>
      </p:grpSpPr>
      <p:sp>
        <p:nvSpPr>
          <p:cNvPr id="149" name="Google Shape;149;p22">
            <a:extLst>
              <a:ext uri="{FF2B5EF4-FFF2-40B4-BE49-F238E27FC236}">
                <a16:creationId xmlns:a16="http://schemas.microsoft.com/office/drawing/2014/main" id="{C39B9B4C-EED9-F5C4-5773-8423D0521668}"/>
              </a:ext>
            </a:extLst>
          </p:cNvPr>
          <p:cNvSpPr txBox="1"/>
          <p:nvPr/>
        </p:nvSpPr>
        <p:spPr>
          <a:xfrm>
            <a:off x="643169" y="643259"/>
            <a:ext cx="8117453" cy="492827"/>
          </a:xfrm>
          <a:prstGeom prst="rect">
            <a:avLst/>
          </a:prstGeom>
          <a:noFill/>
          <a:ln>
            <a:noFill/>
          </a:ln>
        </p:spPr>
        <p:txBody>
          <a:bodyPr spcFirstLastPara="1" wrap="square" lIns="0" tIns="0" rIns="0" bIns="0" anchor="t" anchorCtr="0">
            <a:spAutoFit/>
          </a:bodyPr>
          <a:lstStyle/>
          <a:p>
            <a:pPr>
              <a:lnSpc>
                <a:spcPct val="104983"/>
              </a:lnSpc>
            </a:pPr>
            <a:r>
              <a:rPr lang="es" sz="3050">
                <a:solidFill>
                  <a:srgbClr val="FFFFFF"/>
                </a:solidFill>
                <a:latin typeface="Montserrat ExtraBold"/>
                <a:sym typeface="Montserrat ExtraBold"/>
              </a:rPr>
              <a:t>Resultados: Video de Funcionamiento</a:t>
            </a:r>
            <a:endParaRPr lang="es" sz="3050">
              <a:solidFill>
                <a:srgbClr val="FFFFFF"/>
              </a:solidFill>
              <a:latin typeface="Montserrat ExtraBold"/>
            </a:endParaRPr>
          </a:p>
        </p:txBody>
      </p:sp>
      <p:sp>
        <p:nvSpPr>
          <p:cNvPr id="150" name="Google Shape;150;p22">
            <a:extLst>
              <a:ext uri="{FF2B5EF4-FFF2-40B4-BE49-F238E27FC236}">
                <a16:creationId xmlns:a16="http://schemas.microsoft.com/office/drawing/2014/main" id="{6098DDF8-81A6-AEDC-3A16-8F3590E0D9AD}"/>
              </a:ext>
            </a:extLst>
          </p:cNvPr>
          <p:cNvSpPr/>
          <p:nvPr/>
        </p:nvSpPr>
        <p:spPr>
          <a:xfrm>
            <a:off x="7892034" y="4670729"/>
            <a:ext cx="1151847" cy="372310"/>
          </a:xfrm>
          <a:custGeom>
            <a:avLst/>
            <a:gdLst/>
            <a:ahLst/>
            <a:cxnLst/>
            <a:rect l="l" t="t" r="r" b="b"/>
            <a:pathLst>
              <a:path w="1481475" h="529979" extrusionOk="0">
                <a:moveTo>
                  <a:pt x="0" y="0"/>
                </a:moveTo>
                <a:lnTo>
                  <a:pt x="1481475" y="0"/>
                </a:lnTo>
                <a:lnTo>
                  <a:pt x="1481475" y="529979"/>
                </a:lnTo>
                <a:lnTo>
                  <a:pt x="0" y="529979"/>
                </a:lnTo>
                <a:lnTo>
                  <a:pt x="0" y="0"/>
                </a:lnTo>
                <a:close/>
              </a:path>
            </a:pathLst>
          </a:custGeom>
          <a:blipFill rotWithShape="1">
            <a:blip r:embed="rId3">
              <a:alphaModFix/>
            </a:blip>
            <a:stretch>
              <a:fillRect l="-579" b="-25708"/>
            </a:stretch>
          </a:blipFill>
          <a:ln>
            <a:noFill/>
          </a:ln>
        </p:spPr>
        <p:txBody>
          <a:bodyPr/>
          <a:lstStyle/>
          <a:p>
            <a:endParaRPr lang="es-CL"/>
          </a:p>
        </p:txBody>
      </p:sp>
    </p:spTree>
    <p:extLst>
      <p:ext uri="{BB962C8B-B14F-4D97-AF65-F5344CB8AC3E}">
        <p14:creationId xmlns:p14="http://schemas.microsoft.com/office/powerpoint/2010/main" val="2573796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293B"/>
        </a:solidFill>
        <a:effectLst/>
      </p:bgPr>
    </p:bg>
    <p:spTree>
      <p:nvGrpSpPr>
        <p:cNvPr id="1" name="Shape 146">
          <a:extLst>
            <a:ext uri="{FF2B5EF4-FFF2-40B4-BE49-F238E27FC236}">
              <a16:creationId xmlns:a16="http://schemas.microsoft.com/office/drawing/2014/main" id="{C7F435C0-B285-7127-8D81-FF7C9E71E9FB}"/>
            </a:ext>
          </a:extLst>
        </p:cNvPr>
        <p:cNvGrpSpPr/>
        <p:nvPr/>
      </p:nvGrpSpPr>
      <p:grpSpPr>
        <a:xfrm>
          <a:off x="0" y="0"/>
          <a:ext cx="0" cy="0"/>
          <a:chOff x="0" y="0"/>
          <a:chExt cx="0" cy="0"/>
        </a:xfrm>
      </p:grpSpPr>
      <p:sp>
        <p:nvSpPr>
          <p:cNvPr id="148" name="Google Shape;148;p22">
            <a:extLst>
              <a:ext uri="{FF2B5EF4-FFF2-40B4-BE49-F238E27FC236}">
                <a16:creationId xmlns:a16="http://schemas.microsoft.com/office/drawing/2014/main" id="{3FE1E0A6-F784-EF44-9589-0C5EEEB1F2FD}"/>
              </a:ext>
            </a:extLst>
          </p:cNvPr>
          <p:cNvSpPr txBox="1"/>
          <p:nvPr/>
        </p:nvSpPr>
        <p:spPr>
          <a:xfrm>
            <a:off x="432128" y="1067253"/>
            <a:ext cx="4028678" cy="3801041"/>
          </a:xfrm>
          <a:prstGeom prst="rect">
            <a:avLst/>
          </a:prstGeom>
          <a:noFill/>
          <a:ln>
            <a:noFill/>
          </a:ln>
        </p:spPr>
        <p:txBody>
          <a:bodyPr spcFirstLastPara="1" wrap="square" lIns="0" tIns="0" rIns="0" bIns="0" anchor="t" anchorCtr="0">
            <a:spAutoFit/>
          </a:bodyPr>
          <a:lstStyle/>
          <a:p>
            <a:r>
              <a:rPr lang="es-MX" sz="1300" dirty="0">
                <a:solidFill>
                  <a:schemeClr val="bg1"/>
                </a:solidFill>
                <a:ea typeface="Roboto"/>
              </a:rPr>
              <a:t>-Interfaz de Usuario: El sistema permite el ingreso interactivo de consultas, procesando la entrada en tiempo real. </a:t>
            </a:r>
          </a:p>
          <a:p>
            <a:endParaRPr lang="es-MX" sz="1300" dirty="0">
              <a:solidFill>
                <a:schemeClr val="bg1"/>
              </a:solidFill>
              <a:ea typeface="Roboto"/>
            </a:endParaRPr>
          </a:p>
          <a:p>
            <a:r>
              <a:rPr lang="es-MX" sz="1300" dirty="0">
                <a:solidFill>
                  <a:schemeClr val="bg1"/>
                </a:solidFill>
                <a:ea typeface="Roboto"/>
              </a:rPr>
              <a:t>-Prueba de Un Término: La consulta “</a:t>
            </a:r>
            <a:r>
              <a:rPr lang="es-MX" sz="1300" dirty="0" err="1">
                <a:solidFill>
                  <a:schemeClr val="bg1"/>
                </a:solidFill>
                <a:ea typeface="Roboto"/>
              </a:rPr>
              <a:t>billboard</a:t>
            </a:r>
            <a:r>
              <a:rPr lang="es-MX" sz="1300" dirty="0">
                <a:solidFill>
                  <a:schemeClr val="bg1"/>
                </a:solidFill>
                <a:ea typeface="Roboto"/>
              </a:rPr>
              <a:t>” recupera correctamente todos los documentos asociados, validando la integridad del índice invertido. </a:t>
            </a:r>
          </a:p>
          <a:p>
            <a:endParaRPr lang="es-MX" sz="1300" dirty="0">
              <a:solidFill>
                <a:schemeClr val="bg1"/>
              </a:solidFill>
              <a:ea typeface="Roboto"/>
            </a:endParaRPr>
          </a:p>
          <a:p>
            <a:r>
              <a:rPr lang="es-MX" sz="1300" dirty="0">
                <a:solidFill>
                  <a:schemeClr val="bg1"/>
                </a:solidFill>
                <a:ea typeface="Roboto"/>
              </a:rPr>
              <a:t>-Prueba de Intersección (AND): </a:t>
            </a:r>
          </a:p>
          <a:p>
            <a:pPr marL="285750" indent="-285750">
              <a:buFont typeface="Arial" panose="020B0604020202020204" pitchFamily="34" charset="0"/>
              <a:buChar char="•"/>
            </a:pPr>
            <a:r>
              <a:rPr lang="es-MX" sz="1300" dirty="0">
                <a:solidFill>
                  <a:schemeClr val="bg1"/>
                </a:solidFill>
                <a:ea typeface="Roboto"/>
              </a:rPr>
              <a:t>Consulta: “</a:t>
            </a:r>
            <a:r>
              <a:rPr lang="es-MX" sz="1300" dirty="0" err="1">
                <a:solidFill>
                  <a:schemeClr val="bg1"/>
                </a:solidFill>
                <a:ea typeface="Roboto"/>
              </a:rPr>
              <a:t>pitchfork</a:t>
            </a:r>
            <a:r>
              <a:rPr lang="es-MX" sz="1300" dirty="0">
                <a:solidFill>
                  <a:schemeClr val="bg1"/>
                </a:solidFill>
                <a:ea typeface="Roboto"/>
              </a:rPr>
              <a:t> </a:t>
            </a:r>
            <a:r>
              <a:rPr lang="es-MX" sz="1300">
                <a:solidFill>
                  <a:schemeClr val="bg1"/>
                </a:solidFill>
                <a:ea typeface="Roboto"/>
              </a:rPr>
              <a:t>review". </a:t>
            </a:r>
            <a:endParaRPr lang="es-MX" sz="1300" dirty="0">
              <a:solidFill>
                <a:schemeClr val="bg1"/>
              </a:solidFill>
              <a:ea typeface="Roboto"/>
            </a:endParaRPr>
          </a:p>
          <a:p>
            <a:pPr marL="285750" indent="-285750">
              <a:buFont typeface="Arial" panose="020B0604020202020204" pitchFamily="34" charset="0"/>
              <a:buChar char="•"/>
            </a:pPr>
            <a:r>
              <a:rPr lang="es-MX" sz="1300" dirty="0">
                <a:solidFill>
                  <a:schemeClr val="bg1"/>
                </a:solidFill>
                <a:ea typeface="Roboto"/>
              </a:rPr>
              <a:t>Resultado: El sistema filtra correctamente y devuelve solo los documentos que contienen ambos términos, demostrando la lógica de conjuntos estricta.</a:t>
            </a:r>
          </a:p>
          <a:p>
            <a:r>
              <a:rPr lang="es-MX" sz="1300" dirty="0">
                <a:solidFill>
                  <a:schemeClr val="bg1"/>
                </a:solidFill>
                <a:ea typeface="Roboto"/>
              </a:rPr>
              <a:t> </a:t>
            </a:r>
          </a:p>
          <a:p>
            <a:r>
              <a:rPr lang="es-MX" sz="1300" dirty="0">
                <a:solidFill>
                  <a:schemeClr val="bg1"/>
                </a:solidFill>
                <a:ea typeface="Roboto"/>
              </a:rPr>
              <a:t>-Prueba de Múltiples Términos: La consulta "</a:t>
            </a:r>
            <a:r>
              <a:rPr lang="es-MX" sz="1300" dirty="0" err="1">
                <a:solidFill>
                  <a:schemeClr val="bg1"/>
                </a:solidFill>
                <a:ea typeface="Roboto"/>
              </a:rPr>
              <a:t>billboard</a:t>
            </a:r>
            <a:r>
              <a:rPr lang="es-MX" sz="1300" dirty="0">
                <a:solidFill>
                  <a:schemeClr val="bg1"/>
                </a:solidFill>
                <a:ea typeface="Roboto"/>
              </a:rPr>
              <a:t> </a:t>
            </a:r>
            <a:r>
              <a:rPr lang="es-MX" sz="1300" dirty="0" err="1">
                <a:solidFill>
                  <a:schemeClr val="bg1"/>
                </a:solidFill>
                <a:ea typeface="Roboto"/>
              </a:rPr>
              <a:t>hot</a:t>
            </a:r>
            <a:r>
              <a:rPr lang="es-MX" sz="1300" dirty="0">
                <a:solidFill>
                  <a:schemeClr val="bg1"/>
                </a:solidFill>
                <a:ea typeface="Roboto"/>
              </a:rPr>
              <a:t> 100l" confirma la capacidad del algoritmo para reducir progresivamente el espacio de búsqueda hasta encontrar la coincidencia exacta.</a:t>
            </a:r>
            <a:endParaRPr sz="1338" b="0" i="0" u="none" strike="noStrike" cap="none" dirty="0">
              <a:solidFill>
                <a:srgbClr val="FFFFFF"/>
              </a:solidFill>
              <a:latin typeface="Roboto"/>
              <a:ea typeface="Roboto"/>
              <a:cs typeface="Roboto"/>
              <a:sym typeface="Roboto"/>
            </a:endParaRPr>
          </a:p>
        </p:txBody>
      </p:sp>
      <p:sp>
        <p:nvSpPr>
          <p:cNvPr id="149" name="Google Shape;149;p22">
            <a:extLst>
              <a:ext uri="{FF2B5EF4-FFF2-40B4-BE49-F238E27FC236}">
                <a16:creationId xmlns:a16="http://schemas.microsoft.com/office/drawing/2014/main" id="{E6A74267-3E4A-A718-E92D-B89E876DC207}"/>
              </a:ext>
            </a:extLst>
          </p:cNvPr>
          <p:cNvSpPr txBox="1"/>
          <p:nvPr/>
        </p:nvSpPr>
        <p:spPr>
          <a:xfrm>
            <a:off x="742561" y="519020"/>
            <a:ext cx="7653627" cy="492827"/>
          </a:xfrm>
          <a:prstGeom prst="rect">
            <a:avLst/>
          </a:prstGeom>
          <a:noFill/>
          <a:ln>
            <a:noFill/>
          </a:ln>
        </p:spPr>
        <p:txBody>
          <a:bodyPr spcFirstLastPara="1" wrap="square" lIns="0" tIns="0" rIns="0" bIns="0" anchor="t" anchorCtr="0">
            <a:spAutoFit/>
          </a:bodyPr>
          <a:lstStyle/>
          <a:p>
            <a:pPr>
              <a:lnSpc>
                <a:spcPct val="104983"/>
              </a:lnSpc>
            </a:pPr>
            <a:r>
              <a:rPr lang="es" sz="3050">
                <a:solidFill>
                  <a:srgbClr val="FFFFFF"/>
                </a:solidFill>
                <a:latin typeface="Montserrat ExtraBold"/>
                <a:sym typeface="Montserrat ExtraBold"/>
              </a:rPr>
              <a:t>Resultado: Resultado Generado</a:t>
            </a:r>
            <a:endParaRPr lang="es" sz="3050">
              <a:solidFill>
                <a:srgbClr val="FFFFFF"/>
              </a:solidFill>
              <a:latin typeface="Montserrat ExtraBold"/>
            </a:endParaRPr>
          </a:p>
        </p:txBody>
      </p:sp>
      <p:sp>
        <p:nvSpPr>
          <p:cNvPr id="150" name="Google Shape;150;p22">
            <a:extLst>
              <a:ext uri="{FF2B5EF4-FFF2-40B4-BE49-F238E27FC236}">
                <a16:creationId xmlns:a16="http://schemas.microsoft.com/office/drawing/2014/main" id="{D3B19BAB-E40F-27DB-39B5-830DD62FB2D9}"/>
              </a:ext>
            </a:extLst>
          </p:cNvPr>
          <p:cNvSpPr/>
          <p:nvPr/>
        </p:nvSpPr>
        <p:spPr>
          <a:xfrm>
            <a:off x="7892034" y="4670729"/>
            <a:ext cx="1151847" cy="372310"/>
          </a:xfrm>
          <a:custGeom>
            <a:avLst/>
            <a:gdLst/>
            <a:ahLst/>
            <a:cxnLst/>
            <a:rect l="l" t="t" r="r" b="b"/>
            <a:pathLst>
              <a:path w="1481475" h="529979" extrusionOk="0">
                <a:moveTo>
                  <a:pt x="0" y="0"/>
                </a:moveTo>
                <a:lnTo>
                  <a:pt x="1481475" y="0"/>
                </a:lnTo>
                <a:lnTo>
                  <a:pt x="1481475" y="529979"/>
                </a:lnTo>
                <a:lnTo>
                  <a:pt x="0" y="529979"/>
                </a:lnTo>
                <a:lnTo>
                  <a:pt x="0" y="0"/>
                </a:lnTo>
                <a:close/>
              </a:path>
            </a:pathLst>
          </a:custGeom>
          <a:blipFill rotWithShape="1">
            <a:blip r:embed="rId3">
              <a:alphaModFix/>
            </a:blip>
            <a:stretch>
              <a:fillRect l="-579" b="-25708"/>
            </a:stretch>
          </a:blipFill>
          <a:ln>
            <a:noFill/>
          </a:ln>
        </p:spPr>
        <p:txBody>
          <a:bodyPr/>
          <a:lstStyle/>
          <a:p>
            <a:endParaRPr lang="es-CL"/>
          </a:p>
        </p:txBody>
      </p:sp>
      <p:pic>
        <p:nvPicPr>
          <p:cNvPr id="3" name="Imagen 2">
            <a:extLst>
              <a:ext uri="{FF2B5EF4-FFF2-40B4-BE49-F238E27FC236}">
                <a16:creationId xmlns:a16="http://schemas.microsoft.com/office/drawing/2014/main" id="{7A3622B3-3303-6D15-A655-3785B3F34207}"/>
              </a:ext>
            </a:extLst>
          </p:cNvPr>
          <p:cNvPicPr>
            <a:picLocks noChangeAspect="1"/>
          </p:cNvPicPr>
          <p:nvPr/>
        </p:nvPicPr>
        <p:blipFill>
          <a:blip r:embed="rId4"/>
          <a:stretch>
            <a:fillRect/>
          </a:stretch>
        </p:blipFill>
        <p:spPr>
          <a:xfrm>
            <a:off x="4388223" y="1509132"/>
            <a:ext cx="4655658" cy="1873406"/>
          </a:xfrm>
          <a:prstGeom prst="rect">
            <a:avLst/>
          </a:prstGeom>
        </p:spPr>
      </p:pic>
    </p:spTree>
    <p:extLst>
      <p:ext uri="{BB962C8B-B14F-4D97-AF65-F5344CB8AC3E}">
        <p14:creationId xmlns:p14="http://schemas.microsoft.com/office/powerpoint/2010/main" val="21979764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293B"/>
        </a:solidFill>
        <a:effectLst/>
      </p:bgPr>
    </p:bg>
    <p:spTree>
      <p:nvGrpSpPr>
        <p:cNvPr id="1" name="Shape 139">
          <a:extLst>
            <a:ext uri="{FF2B5EF4-FFF2-40B4-BE49-F238E27FC236}">
              <a16:creationId xmlns:a16="http://schemas.microsoft.com/office/drawing/2014/main" id="{B1AACC67-7C0D-F7AD-F0D5-CDB3AC2F36A1}"/>
            </a:ext>
          </a:extLst>
        </p:cNvPr>
        <p:cNvGrpSpPr/>
        <p:nvPr/>
      </p:nvGrpSpPr>
      <p:grpSpPr>
        <a:xfrm>
          <a:off x="0" y="0"/>
          <a:ext cx="0" cy="0"/>
          <a:chOff x="0" y="0"/>
          <a:chExt cx="0" cy="0"/>
        </a:xfrm>
      </p:grpSpPr>
      <p:pic>
        <p:nvPicPr>
          <p:cNvPr id="140" name="Google Shape;140;p21">
            <a:extLst>
              <a:ext uri="{FF2B5EF4-FFF2-40B4-BE49-F238E27FC236}">
                <a16:creationId xmlns:a16="http://schemas.microsoft.com/office/drawing/2014/main" id="{B813028E-FCE2-0882-2DB4-B6826845363C}"/>
              </a:ext>
            </a:extLst>
          </p:cNvPr>
          <p:cNvPicPr preferRelativeResize="0"/>
          <p:nvPr/>
        </p:nvPicPr>
        <p:blipFill>
          <a:blip r:embed="rId3">
            <a:alphaModFix amt="55000"/>
          </a:blip>
          <a:stretch>
            <a:fillRect/>
          </a:stretch>
        </p:blipFill>
        <p:spPr>
          <a:xfrm>
            <a:off x="8" y="13"/>
            <a:ext cx="9144003" cy="5143484"/>
          </a:xfrm>
          <a:prstGeom prst="rect">
            <a:avLst/>
          </a:prstGeom>
          <a:noFill/>
          <a:ln>
            <a:noFill/>
          </a:ln>
        </p:spPr>
      </p:pic>
      <p:sp>
        <p:nvSpPr>
          <p:cNvPr id="141" name="Google Shape;141;p21">
            <a:extLst>
              <a:ext uri="{FF2B5EF4-FFF2-40B4-BE49-F238E27FC236}">
                <a16:creationId xmlns:a16="http://schemas.microsoft.com/office/drawing/2014/main" id="{7226141E-9C82-7B6E-EF34-ADD4D3C4E0FF}"/>
              </a:ext>
            </a:extLst>
          </p:cNvPr>
          <p:cNvSpPr txBox="1"/>
          <p:nvPr/>
        </p:nvSpPr>
        <p:spPr>
          <a:xfrm>
            <a:off x="2104795" y="2008496"/>
            <a:ext cx="4934400" cy="573619"/>
          </a:xfrm>
          <a:prstGeom prst="rect">
            <a:avLst/>
          </a:prstGeom>
          <a:noFill/>
          <a:ln>
            <a:noFill/>
          </a:ln>
        </p:spPr>
        <p:txBody>
          <a:bodyPr spcFirstLastPara="1" wrap="square" lIns="0" tIns="0" rIns="0" bIns="0" anchor="t" anchorCtr="0">
            <a:spAutoFit/>
          </a:bodyPr>
          <a:lstStyle/>
          <a:p>
            <a:pPr algn="ctr">
              <a:lnSpc>
                <a:spcPct val="104983"/>
              </a:lnSpc>
            </a:pPr>
            <a:r>
              <a:rPr lang="es" sz="3550">
                <a:solidFill>
                  <a:srgbClr val="FFFFFF"/>
                </a:solidFill>
                <a:latin typeface="Montserrat ExtraBold"/>
                <a:ea typeface="Roboto"/>
                <a:sym typeface="Montserrat ExtraBold"/>
              </a:rPr>
              <a:t>Conclusión</a:t>
            </a:r>
            <a:endParaRPr lang="es-ES"/>
          </a:p>
        </p:txBody>
      </p:sp>
      <p:sp>
        <p:nvSpPr>
          <p:cNvPr id="142" name="Google Shape;142;p21">
            <a:extLst>
              <a:ext uri="{FF2B5EF4-FFF2-40B4-BE49-F238E27FC236}">
                <a16:creationId xmlns:a16="http://schemas.microsoft.com/office/drawing/2014/main" id="{95E3AB18-2055-E267-A1CF-5CC81B2C5C89}"/>
              </a:ext>
            </a:extLst>
          </p:cNvPr>
          <p:cNvSpPr/>
          <p:nvPr/>
        </p:nvSpPr>
        <p:spPr>
          <a:xfrm>
            <a:off x="7892034" y="4670729"/>
            <a:ext cx="1151847" cy="372310"/>
          </a:xfrm>
          <a:custGeom>
            <a:avLst/>
            <a:gdLst/>
            <a:ahLst/>
            <a:cxnLst/>
            <a:rect l="l" t="t" r="r" b="b"/>
            <a:pathLst>
              <a:path w="1481475" h="529979" extrusionOk="0">
                <a:moveTo>
                  <a:pt x="0" y="0"/>
                </a:moveTo>
                <a:lnTo>
                  <a:pt x="1481475" y="0"/>
                </a:lnTo>
                <a:lnTo>
                  <a:pt x="1481475" y="529979"/>
                </a:lnTo>
                <a:lnTo>
                  <a:pt x="0" y="529979"/>
                </a:lnTo>
                <a:lnTo>
                  <a:pt x="0" y="0"/>
                </a:lnTo>
                <a:close/>
              </a:path>
            </a:pathLst>
          </a:custGeom>
          <a:blipFill rotWithShape="1">
            <a:blip r:embed="rId4">
              <a:alphaModFix/>
            </a:blip>
            <a:stretch>
              <a:fillRect l="-579" b="-25708"/>
            </a:stretch>
          </a:blipFill>
          <a:ln>
            <a:noFill/>
          </a:ln>
        </p:spPr>
        <p:txBody>
          <a:bodyPr/>
          <a:lstStyle/>
          <a:p>
            <a:endParaRPr lang="es-CL"/>
          </a:p>
        </p:txBody>
      </p:sp>
    </p:spTree>
    <p:extLst>
      <p:ext uri="{BB962C8B-B14F-4D97-AF65-F5344CB8AC3E}">
        <p14:creationId xmlns:p14="http://schemas.microsoft.com/office/powerpoint/2010/main" val="25349942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293B"/>
        </a:solidFill>
        <a:effectLst/>
      </p:bgPr>
    </p:bg>
    <p:spTree>
      <p:nvGrpSpPr>
        <p:cNvPr id="1" name="Shape 146">
          <a:extLst>
            <a:ext uri="{FF2B5EF4-FFF2-40B4-BE49-F238E27FC236}">
              <a16:creationId xmlns:a16="http://schemas.microsoft.com/office/drawing/2014/main" id="{5B72EE1D-6652-C869-289F-2222ED091F43}"/>
            </a:ext>
          </a:extLst>
        </p:cNvPr>
        <p:cNvGrpSpPr/>
        <p:nvPr/>
      </p:nvGrpSpPr>
      <p:grpSpPr>
        <a:xfrm>
          <a:off x="0" y="0"/>
          <a:ext cx="0" cy="0"/>
          <a:chOff x="0" y="0"/>
          <a:chExt cx="0" cy="0"/>
        </a:xfrm>
      </p:grpSpPr>
      <p:sp>
        <p:nvSpPr>
          <p:cNvPr id="148" name="Google Shape;148;p22">
            <a:extLst>
              <a:ext uri="{FF2B5EF4-FFF2-40B4-BE49-F238E27FC236}">
                <a16:creationId xmlns:a16="http://schemas.microsoft.com/office/drawing/2014/main" id="{24E52C55-1AA4-3984-D566-C03A9F6653BB}"/>
              </a:ext>
            </a:extLst>
          </p:cNvPr>
          <p:cNvSpPr txBox="1"/>
          <p:nvPr/>
        </p:nvSpPr>
        <p:spPr>
          <a:xfrm>
            <a:off x="1225053" y="1329585"/>
            <a:ext cx="6666981" cy="3806876"/>
          </a:xfrm>
          <a:prstGeom prst="rect">
            <a:avLst/>
          </a:prstGeom>
          <a:noFill/>
          <a:ln>
            <a:noFill/>
          </a:ln>
        </p:spPr>
        <p:txBody>
          <a:bodyPr spcFirstLastPara="1" wrap="square" lIns="0" tIns="0" rIns="0" bIns="0" anchor="t" anchorCtr="0">
            <a:spAutoFit/>
          </a:bodyPr>
          <a:lstStyle/>
          <a:p>
            <a:endParaRPr lang="es-CL" sz="1300" dirty="0">
              <a:solidFill>
                <a:schemeClr val="bg1"/>
              </a:solidFill>
              <a:ea typeface="Roboto"/>
              <a:cs typeface="Times New Roman"/>
            </a:endParaRPr>
          </a:p>
          <a:p>
            <a:r>
              <a:rPr lang="es-CL" sz="1300" dirty="0">
                <a:solidFill>
                  <a:schemeClr val="bg1"/>
                </a:solidFill>
                <a:ea typeface="Roboto"/>
                <a:cs typeface="Times New Roman"/>
              </a:rPr>
              <a:t>-</a:t>
            </a:r>
            <a:r>
              <a:rPr lang="es-MX" sz="1300" dirty="0">
                <a:solidFill>
                  <a:schemeClr val="bg1"/>
                </a:solidFill>
                <a:ea typeface="Roboto"/>
                <a:cs typeface="Times New Roman"/>
              </a:rPr>
              <a:t>Integración de Paradigmas: El proyecto demuestra el trabajo en conjunto de distintos paradigmas: la eficiencia de Scripting (AWK) para el procesamiento de texto crudo (raw </a:t>
            </a:r>
            <a:r>
              <a:rPr lang="es-MX" sz="1300" dirty="0" err="1">
                <a:solidFill>
                  <a:schemeClr val="bg1"/>
                </a:solidFill>
                <a:ea typeface="Roboto"/>
                <a:cs typeface="Times New Roman"/>
              </a:rPr>
              <a:t>text</a:t>
            </a:r>
            <a:r>
              <a:rPr lang="es-MX" sz="1300" dirty="0">
                <a:solidFill>
                  <a:schemeClr val="bg1"/>
                </a:solidFill>
                <a:ea typeface="Roboto"/>
                <a:cs typeface="Times New Roman"/>
              </a:rPr>
              <a:t>, que son los datos de caracteres tal como se reciben de la fuente original) y la flexibilidad de la Programación Funcional (Python) para la lógica de negocio. </a:t>
            </a:r>
          </a:p>
          <a:p>
            <a:endParaRPr lang="es-MX" sz="1300" dirty="0">
              <a:solidFill>
                <a:schemeClr val="bg1"/>
              </a:solidFill>
              <a:ea typeface="Roboto"/>
              <a:cs typeface="Times New Roman"/>
            </a:endParaRPr>
          </a:p>
          <a:p>
            <a:r>
              <a:rPr lang="es-MX" sz="1300" dirty="0">
                <a:solidFill>
                  <a:schemeClr val="bg1"/>
                </a:solidFill>
                <a:ea typeface="Roboto"/>
                <a:cs typeface="Times New Roman"/>
              </a:rPr>
              <a:t>-Eficiencia del Índice Invertido: Se validó que esta estructura de datos es superior a la búsqueda secuencial, permitiendo tiempos de respuesta inmediatos gracias a la indexación previa y la carga en memoria. </a:t>
            </a:r>
          </a:p>
          <a:p>
            <a:endParaRPr lang="es-MX" sz="1300" dirty="0">
              <a:solidFill>
                <a:schemeClr val="bg1"/>
              </a:solidFill>
              <a:ea typeface="Roboto"/>
              <a:cs typeface="Times New Roman"/>
            </a:endParaRPr>
          </a:p>
          <a:p>
            <a:r>
              <a:rPr lang="es-MX" sz="1300" dirty="0">
                <a:solidFill>
                  <a:schemeClr val="bg1"/>
                </a:solidFill>
                <a:ea typeface="Roboto"/>
                <a:cs typeface="Times New Roman"/>
              </a:rPr>
              <a:t>-Cumplimiento de Requisitos: </a:t>
            </a:r>
          </a:p>
          <a:p>
            <a:pPr marL="285750" indent="-285750">
              <a:buFont typeface="Arial" panose="020B0604020202020204" pitchFamily="34" charset="0"/>
              <a:buChar char="•"/>
            </a:pPr>
            <a:r>
              <a:rPr lang="es-MX" sz="1300" dirty="0">
                <a:solidFill>
                  <a:schemeClr val="bg1"/>
                </a:solidFill>
                <a:ea typeface="Roboto"/>
                <a:cs typeface="Times New Roman"/>
              </a:rPr>
              <a:t>Modularidad: El diseño desacoplado (Pipeline) facilita el mantenimiento. </a:t>
            </a:r>
          </a:p>
          <a:p>
            <a:pPr marL="285750" indent="-285750">
              <a:buFont typeface="Arial" panose="020B0604020202020204" pitchFamily="34" charset="0"/>
              <a:buChar char="•"/>
            </a:pPr>
            <a:r>
              <a:rPr lang="es-MX" sz="1300" dirty="0">
                <a:solidFill>
                  <a:schemeClr val="bg1"/>
                </a:solidFill>
                <a:ea typeface="Roboto"/>
                <a:cs typeface="Times New Roman"/>
              </a:rPr>
              <a:t>Recursividad: Se implementó exitosamente el filtrado de </a:t>
            </a:r>
            <a:r>
              <a:rPr lang="es-MX" sz="1300" dirty="0" err="1">
                <a:solidFill>
                  <a:schemeClr val="bg1"/>
                </a:solidFill>
                <a:ea typeface="Roboto"/>
                <a:cs typeface="Times New Roman"/>
              </a:rPr>
              <a:t>stopwords</a:t>
            </a:r>
            <a:r>
              <a:rPr lang="es-MX" sz="1300" dirty="0">
                <a:solidFill>
                  <a:schemeClr val="bg1"/>
                </a:solidFill>
                <a:ea typeface="Roboto"/>
                <a:cs typeface="Times New Roman"/>
              </a:rPr>
              <a:t> mediante llamadas recursivas, cumpliendo con las exigencias del paradigma funcional. </a:t>
            </a:r>
          </a:p>
          <a:p>
            <a:pPr marL="285750" indent="-285750">
              <a:buFont typeface="Arial" panose="020B0604020202020204" pitchFamily="34" charset="0"/>
              <a:buChar char="•"/>
            </a:pPr>
            <a:r>
              <a:rPr lang="es-MX" sz="1300" dirty="0">
                <a:solidFill>
                  <a:schemeClr val="bg1"/>
                </a:solidFill>
                <a:ea typeface="Roboto"/>
                <a:cs typeface="Times New Roman"/>
              </a:rPr>
              <a:t>Precisión: La lógica de conjuntos garantizó resultados exactos bajo el modelo booleano AND.</a:t>
            </a:r>
          </a:p>
          <a:p>
            <a:br>
              <a:rPr lang="es" sz="1300" dirty="0">
                <a:ea typeface="Roboto"/>
              </a:rPr>
            </a:br>
            <a:endParaRPr lang="es" sz="1300" dirty="0">
              <a:solidFill>
                <a:srgbClr val="FFFFFF"/>
              </a:solidFill>
              <a:ea typeface="Roboto"/>
            </a:endParaRPr>
          </a:p>
          <a:p>
            <a:pPr marL="0" marR="0" lvl="0" indent="0" algn="l" rtl="0">
              <a:lnSpc>
                <a:spcPct val="100000"/>
              </a:lnSpc>
              <a:spcBef>
                <a:spcPts val="0"/>
              </a:spcBef>
              <a:spcAft>
                <a:spcPts val="0"/>
              </a:spcAft>
              <a:buNone/>
            </a:pPr>
            <a:endParaRPr sz="1338" b="0" i="0" u="none" strike="noStrike" cap="none" dirty="0">
              <a:solidFill>
                <a:srgbClr val="FFFFFF"/>
              </a:solidFill>
              <a:latin typeface="Roboto"/>
              <a:ea typeface="Roboto"/>
              <a:cs typeface="Roboto"/>
              <a:sym typeface="Roboto"/>
            </a:endParaRPr>
          </a:p>
        </p:txBody>
      </p:sp>
      <p:sp>
        <p:nvSpPr>
          <p:cNvPr id="149" name="Google Shape;149;p22">
            <a:extLst>
              <a:ext uri="{FF2B5EF4-FFF2-40B4-BE49-F238E27FC236}">
                <a16:creationId xmlns:a16="http://schemas.microsoft.com/office/drawing/2014/main" id="{77902A88-9475-06DC-C88C-43ACDE96F530}"/>
              </a:ext>
            </a:extLst>
          </p:cNvPr>
          <p:cNvSpPr txBox="1"/>
          <p:nvPr/>
        </p:nvSpPr>
        <p:spPr>
          <a:xfrm>
            <a:off x="742561" y="519020"/>
            <a:ext cx="7653627" cy="492827"/>
          </a:xfrm>
          <a:prstGeom prst="rect">
            <a:avLst/>
          </a:prstGeom>
          <a:noFill/>
          <a:ln>
            <a:noFill/>
          </a:ln>
        </p:spPr>
        <p:txBody>
          <a:bodyPr spcFirstLastPara="1" wrap="square" lIns="0" tIns="0" rIns="0" bIns="0" anchor="t" anchorCtr="0">
            <a:spAutoFit/>
          </a:bodyPr>
          <a:lstStyle/>
          <a:p>
            <a:pPr>
              <a:lnSpc>
                <a:spcPct val="104983"/>
              </a:lnSpc>
            </a:pPr>
            <a:r>
              <a:rPr lang="es" sz="3050">
                <a:solidFill>
                  <a:srgbClr val="FFFFFF"/>
                </a:solidFill>
                <a:latin typeface="Montserrat ExtraBold"/>
                <a:sym typeface="Montserrat ExtraBold"/>
              </a:rPr>
              <a:t>Conclusión</a:t>
            </a:r>
            <a:endParaRPr lang="es" sz="3050">
              <a:solidFill>
                <a:srgbClr val="FFFFFF"/>
              </a:solidFill>
              <a:latin typeface="Montserrat ExtraBold"/>
            </a:endParaRPr>
          </a:p>
        </p:txBody>
      </p:sp>
      <p:sp>
        <p:nvSpPr>
          <p:cNvPr id="150" name="Google Shape;150;p22">
            <a:extLst>
              <a:ext uri="{FF2B5EF4-FFF2-40B4-BE49-F238E27FC236}">
                <a16:creationId xmlns:a16="http://schemas.microsoft.com/office/drawing/2014/main" id="{71FEC887-3E38-FD63-7E0F-056CA04C077E}"/>
              </a:ext>
            </a:extLst>
          </p:cNvPr>
          <p:cNvSpPr/>
          <p:nvPr/>
        </p:nvSpPr>
        <p:spPr>
          <a:xfrm>
            <a:off x="7892034" y="4670729"/>
            <a:ext cx="1151847" cy="372310"/>
          </a:xfrm>
          <a:custGeom>
            <a:avLst/>
            <a:gdLst/>
            <a:ahLst/>
            <a:cxnLst/>
            <a:rect l="l" t="t" r="r" b="b"/>
            <a:pathLst>
              <a:path w="1481475" h="529979" extrusionOk="0">
                <a:moveTo>
                  <a:pt x="0" y="0"/>
                </a:moveTo>
                <a:lnTo>
                  <a:pt x="1481475" y="0"/>
                </a:lnTo>
                <a:lnTo>
                  <a:pt x="1481475" y="529979"/>
                </a:lnTo>
                <a:lnTo>
                  <a:pt x="0" y="529979"/>
                </a:lnTo>
                <a:lnTo>
                  <a:pt x="0" y="0"/>
                </a:lnTo>
                <a:close/>
              </a:path>
            </a:pathLst>
          </a:custGeom>
          <a:blipFill rotWithShape="1">
            <a:blip r:embed="rId3">
              <a:alphaModFix/>
            </a:blip>
            <a:stretch>
              <a:fillRect l="-579" b="-25708"/>
            </a:stretch>
          </a:blipFill>
          <a:ln>
            <a:noFill/>
          </a:ln>
        </p:spPr>
        <p:txBody>
          <a:bodyPr/>
          <a:lstStyle/>
          <a:p>
            <a:endParaRPr lang="es-CL"/>
          </a:p>
        </p:txBody>
      </p:sp>
    </p:spTree>
    <p:extLst>
      <p:ext uri="{BB962C8B-B14F-4D97-AF65-F5344CB8AC3E}">
        <p14:creationId xmlns:p14="http://schemas.microsoft.com/office/powerpoint/2010/main" val="4071919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293B"/>
        </a:solidFill>
        <a:effectLst/>
      </p:bgPr>
    </p:bg>
    <p:spTree>
      <p:nvGrpSpPr>
        <p:cNvPr id="1" name="Shape 139">
          <a:extLst>
            <a:ext uri="{FF2B5EF4-FFF2-40B4-BE49-F238E27FC236}">
              <a16:creationId xmlns:a16="http://schemas.microsoft.com/office/drawing/2014/main" id="{A5921FCA-8524-EDA3-36BE-C1EB8D017BB5}"/>
            </a:ext>
          </a:extLst>
        </p:cNvPr>
        <p:cNvGrpSpPr/>
        <p:nvPr/>
      </p:nvGrpSpPr>
      <p:grpSpPr>
        <a:xfrm>
          <a:off x="0" y="0"/>
          <a:ext cx="0" cy="0"/>
          <a:chOff x="0" y="0"/>
          <a:chExt cx="0" cy="0"/>
        </a:xfrm>
      </p:grpSpPr>
      <p:pic>
        <p:nvPicPr>
          <p:cNvPr id="140" name="Google Shape;140;p21">
            <a:extLst>
              <a:ext uri="{FF2B5EF4-FFF2-40B4-BE49-F238E27FC236}">
                <a16:creationId xmlns:a16="http://schemas.microsoft.com/office/drawing/2014/main" id="{64BB8016-FC41-92A0-B85B-9C93BBA58437}"/>
              </a:ext>
            </a:extLst>
          </p:cNvPr>
          <p:cNvPicPr preferRelativeResize="0"/>
          <p:nvPr/>
        </p:nvPicPr>
        <p:blipFill>
          <a:blip r:embed="rId3">
            <a:alphaModFix amt="55000"/>
          </a:blip>
          <a:stretch>
            <a:fillRect/>
          </a:stretch>
        </p:blipFill>
        <p:spPr>
          <a:xfrm>
            <a:off x="8" y="13"/>
            <a:ext cx="9144003" cy="5143484"/>
          </a:xfrm>
          <a:prstGeom prst="rect">
            <a:avLst/>
          </a:prstGeom>
          <a:noFill/>
          <a:ln>
            <a:noFill/>
          </a:ln>
        </p:spPr>
      </p:pic>
      <p:sp>
        <p:nvSpPr>
          <p:cNvPr id="141" name="Google Shape;141;p21">
            <a:extLst>
              <a:ext uri="{FF2B5EF4-FFF2-40B4-BE49-F238E27FC236}">
                <a16:creationId xmlns:a16="http://schemas.microsoft.com/office/drawing/2014/main" id="{B46BC80B-D462-CE49-6B04-B8286F7BA1E4}"/>
              </a:ext>
            </a:extLst>
          </p:cNvPr>
          <p:cNvSpPr txBox="1"/>
          <p:nvPr/>
        </p:nvSpPr>
        <p:spPr>
          <a:xfrm>
            <a:off x="2104795" y="2008496"/>
            <a:ext cx="4934400" cy="1147237"/>
          </a:xfrm>
          <a:prstGeom prst="rect">
            <a:avLst/>
          </a:prstGeom>
          <a:noFill/>
          <a:ln>
            <a:noFill/>
          </a:ln>
        </p:spPr>
        <p:txBody>
          <a:bodyPr spcFirstLastPara="1" wrap="square" lIns="0" tIns="0" rIns="0" bIns="0" anchor="t" anchorCtr="0">
            <a:spAutoFit/>
          </a:bodyPr>
          <a:lstStyle/>
          <a:p>
            <a:pPr algn="ctr">
              <a:lnSpc>
                <a:spcPct val="104983"/>
              </a:lnSpc>
            </a:pPr>
            <a:r>
              <a:rPr lang="es" sz="3550" dirty="0">
                <a:solidFill>
                  <a:srgbClr val="FFFFFF"/>
                </a:solidFill>
                <a:latin typeface="Montserrat ExtraBold"/>
                <a:ea typeface="Roboto"/>
                <a:sym typeface="Montserrat ExtraBold"/>
              </a:rPr>
              <a:t>Gracias por su Atención</a:t>
            </a:r>
            <a:endParaRPr lang="es-ES" dirty="0"/>
          </a:p>
        </p:txBody>
      </p:sp>
      <p:sp>
        <p:nvSpPr>
          <p:cNvPr id="142" name="Google Shape;142;p21">
            <a:extLst>
              <a:ext uri="{FF2B5EF4-FFF2-40B4-BE49-F238E27FC236}">
                <a16:creationId xmlns:a16="http://schemas.microsoft.com/office/drawing/2014/main" id="{781E7D22-253F-B483-C2D8-B32AA20D4EE1}"/>
              </a:ext>
            </a:extLst>
          </p:cNvPr>
          <p:cNvSpPr/>
          <p:nvPr/>
        </p:nvSpPr>
        <p:spPr>
          <a:xfrm>
            <a:off x="7892034" y="4670729"/>
            <a:ext cx="1151847" cy="372310"/>
          </a:xfrm>
          <a:custGeom>
            <a:avLst/>
            <a:gdLst/>
            <a:ahLst/>
            <a:cxnLst/>
            <a:rect l="l" t="t" r="r" b="b"/>
            <a:pathLst>
              <a:path w="1481475" h="529979" extrusionOk="0">
                <a:moveTo>
                  <a:pt x="0" y="0"/>
                </a:moveTo>
                <a:lnTo>
                  <a:pt x="1481475" y="0"/>
                </a:lnTo>
                <a:lnTo>
                  <a:pt x="1481475" y="529979"/>
                </a:lnTo>
                <a:lnTo>
                  <a:pt x="0" y="529979"/>
                </a:lnTo>
                <a:lnTo>
                  <a:pt x="0" y="0"/>
                </a:lnTo>
                <a:close/>
              </a:path>
            </a:pathLst>
          </a:custGeom>
          <a:blipFill rotWithShape="1">
            <a:blip r:embed="rId4">
              <a:alphaModFix/>
            </a:blip>
            <a:stretch>
              <a:fillRect l="-579" b="-25708"/>
            </a:stretch>
          </a:blipFill>
          <a:ln>
            <a:noFill/>
          </a:ln>
        </p:spPr>
        <p:txBody>
          <a:bodyPr/>
          <a:lstStyle/>
          <a:p>
            <a:endParaRPr lang="es-CL"/>
          </a:p>
        </p:txBody>
      </p:sp>
    </p:spTree>
    <p:extLst>
      <p:ext uri="{BB962C8B-B14F-4D97-AF65-F5344CB8AC3E}">
        <p14:creationId xmlns:p14="http://schemas.microsoft.com/office/powerpoint/2010/main" val="1910953216"/>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2ebbef76-20fe-415f-bfff-e966ab83805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AE7B0D60C4878D429BF0FD9BA57599D2" ma:contentTypeVersion="7" ma:contentTypeDescription="Crear nuevo documento." ma:contentTypeScope="" ma:versionID="4820235f80efd74cd5622ed116409007">
  <xsd:schema xmlns:xsd="http://www.w3.org/2001/XMLSchema" xmlns:xs="http://www.w3.org/2001/XMLSchema" xmlns:p="http://schemas.microsoft.com/office/2006/metadata/properties" xmlns:ns3="2ebbef76-20fe-415f-bfff-e966ab838058" targetNamespace="http://schemas.microsoft.com/office/2006/metadata/properties" ma:root="true" ma:fieldsID="91714e49d51d7e8322ca88c7d15b4a3c" ns3:_="">
    <xsd:import namespace="2ebbef76-20fe-415f-bfff-e966ab838058"/>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_activity"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bbef76-20fe-415f-bfff-e966ab83805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BillingMetadata" ma:index="14"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3DEF1B9-5E75-4564-B37F-2BC006194BAE}">
  <ds:schemaRefs>
    <ds:schemaRef ds:uri="http://www.w3.org/XML/1998/namespace"/>
    <ds:schemaRef ds:uri="2ebbef76-20fe-415f-bfff-e966ab838058"/>
    <ds:schemaRef ds:uri="http://schemas.microsoft.com/office/2006/documentManagement/types"/>
    <ds:schemaRef ds:uri="http://schemas.microsoft.com/office/2006/metadata/properties"/>
    <ds:schemaRef ds:uri="http://schemas.openxmlformats.org/package/2006/metadata/core-properties"/>
    <ds:schemaRef ds:uri="http://purl.org/dc/elements/1.1/"/>
    <ds:schemaRef ds:uri="http://schemas.microsoft.com/office/infopath/2007/PartnerControls"/>
    <ds:schemaRef ds:uri="http://purl.org/dc/dcmitype/"/>
    <ds:schemaRef ds:uri="http://purl.org/dc/terms/"/>
  </ds:schemaRefs>
</ds:datastoreItem>
</file>

<file path=customXml/itemProps2.xml><?xml version="1.0" encoding="utf-8"?>
<ds:datastoreItem xmlns:ds="http://schemas.openxmlformats.org/officeDocument/2006/customXml" ds:itemID="{99CC5985-6AAB-4E90-9CCF-2DF9BDBAE13B}">
  <ds:schemaRefs>
    <ds:schemaRef ds:uri="http://schemas.microsoft.com/sharepoint/v3/contenttype/forms"/>
  </ds:schemaRefs>
</ds:datastoreItem>
</file>

<file path=customXml/itemProps3.xml><?xml version="1.0" encoding="utf-8"?>
<ds:datastoreItem xmlns:ds="http://schemas.openxmlformats.org/officeDocument/2006/customXml" ds:itemID="{4C322299-3EDE-459D-82D4-E4430078E5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ebbef76-20fe-415f-bfff-e966ab83805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Presentación Certamen 2</Template>
  <TotalTime>300</TotalTime>
  <Words>1426</Words>
  <Application>Microsoft Office PowerPoint</Application>
  <PresentationFormat>Presentación en pantalla (16:9)</PresentationFormat>
  <Paragraphs>114</Paragraphs>
  <Slides>22</Slides>
  <Notes>22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22</vt:i4>
      </vt:variant>
    </vt:vector>
  </HeadingPairs>
  <TitlesOfParts>
    <vt:vector size="28" baseType="lpstr">
      <vt:lpstr>Roboto</vt:lpstr>
      <vt:lpstr>Montserrat Black</vt:lpstr>
      <vt:lpstr>Calibri</vt:lpstr>
      <vt:lpstr>Montserrat ExtraBold</vt:lpstr>
      <vt:lpstr>Arial</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Camilo Chavol Sandoval</dc:creator>
  <cp:lastModifiedBy>Camilo Chavol Sandoval</cp:lastModifiedBy>
  <cp:revision>8</cp:revision>
  <dcterms:created xsi:type="dcterms:W3CDTF">2025-11-30T03:38:28Z</dcterms:created>
  <dcterms:modified xsi:type="dcterms:W3CDTF">2025-12-03T02:43:50Z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0x010100AE7B0D60C4878D429BF0FD9BA57599D2</vt:lpwstr>
  </property>
</Properties>
</file>